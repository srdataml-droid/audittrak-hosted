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c83b8fe6744b8d" /><Relationship Type="http://schemas.openxmlformats.org/officeDocument/2006/relationships/extended-properties" Target="/docProps/app.xml" Id="R882c2ff260d04f47" /><Relationship Type="http://schemas.openxmlformats.org/officeDocument/2006/relationships/officeDocument" Target="/ppt/presentation.xml" Id="Rad70d26f95864df6" /></Relationships>
</file>

<file path=ppt/presentation.xml><?xml version="1.0" encoding="utf-8"?>
<p:presentation xmlns:p="http://schemas.openxmlformats.org/presentationml/2006/main">
  <p:sldMasterIdLst>
    <p:sldMasterId xmlns:r="http://schemas.openxmlformats.org/officeDocument/2006/relationships" id="2147483648" r:id="Rbb94efa63ef544ff"/>
  </p:sldMasterIdLst>
  <p:notesMasterIdLst>
    <p:notesMasterId xmlns:r="http://schemas.openxmlformats.org/officeDocument/2006/relationships" r:id="R4a1881338d954944"/>
  </p:notesMasterIdLst>
  <p:sldIdLst>
    <p:sldId xmlns:r="http://schemas.openxmlformats.org/officeDocument/2006/relationships" id="256" r:id="Rb42edb53ea4b46f5"/>
    <p:sldId xmlns:r="http://schemas.openxmlformats.org/officeDocument/2006/relationships" id="257" r:id="Rfd746a0f16604692"/>
    <p:sldId xmlns:r="http://schemas.openxmlformats.org/officeDocument/2006/relationships" id="258" r:id="R766b5ee484874eda"/>
    <p:sldId xmlns:r="http://schemas.openxmlformats.org/officeDocument/2006/relationships" id="259" r:id="R728cb54e6de2459e"/>
    <p:sldId xmlns:r="http://schemas.openxmlformats.org/officeDocument/2006/relationships" id="260" r:id="R7939b95bceeb4eee"/>
    <p:sldId xmlns:r="http://schemas.openxmlformats.org/officeDocument/2006/relationships" id="261" r:id="R1eb11032c76846e0"/>
    <p:sldId xmlns:r="http://schemas.openxmlformats.org/officeDocument/2006/relationships" id="262" r:id="R7b68e9d7e3a342ca"/>
    <p:sldId xmlns:r="http://schemas.openxmlformats.org/officeDocument/2006/relationships" id="263" r:id="Raa3558a6c1c54399"/>
    <p:sldId xmlns:r="http://schemas.openxmlformats.org/officeDocument/2006/relationships" id="264" r:id="Re2f5177f456a442e"/>
    <p:sldId xmlns:r="http://schemas.openxmlformats.org/officeDocument/2006/relationships" id="265" r:id="R7fd9ddd3ad534563"/>
    <p:sldId xmlns:r="http://schemas.openxmlformats.org/officeDocument/2006/relationships" id="266" r:id="R0b4358350ad54d53"/>
    <p:sldId xmlns:r="http://schemas.openxmlformats.org/officeDocument/2006/relationships" id="267" r:id="Rc621caceba724746"/>
    <p:sldId xmlns:r="http://schemas.openxmlformats.org/officeDocument/2006/relationships" id="268" r:id="R7802ed0c763e41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79828906f24f3b" /><Relationship Type="http://schemas.openxmlformats.org/officeDocument/2006/relationships/slideMaster" Target="/ppt/slideMasters/slideMaster1.xml" Id="Rbb94efa63ef544ff" /><Relationship Type="http://schemas.openxmlformats.org/officeDocument/2006/relationships/notesMaster" Target="/ppt/notesMasters/notesMaster1.xml" Id="R4a1881338d954944" /><Relationship Type="http://schemas.openxmlformats.org/officeDocument/2006/relationships/presProps" Target="/ppt/presProps.xml" Id="R43f367812788435e" /><Relationship Type="http://schemas.openxmlformats.org/officeDocument/2006/relationships/tableStyles" Target="/ppt/tableStyles.xml" Id="Rc9c5927e73324874" /><Relationship Type="http://schemas.openxmlformats.org/officeDocument/2006/relationships/slide" Target="/ppt/slides/slide1.xml" Id="Rb42edb53ea4b46f5" /><Relationship Type="http://schemas.openxmlformats.org/officeDocument/2006/relationships/slide" Target="/ppt/slides/slide2.xml" Id="Rfd746a0f16604692" /><Relationship Type="http://schemas.openxmlformats.org/officeDocument/2006/relationships/slide" Target="/ppt/slides/slide3.xml" Id="R766b5ee484874eda" /><Relationship Type="http://schemas.openxmlformats.org/officeDocument/2006/relationships/slide" Target="/ppt/slides/slide4.xml" Id="R728cb54e6de2459e" /><Relationship Type="http://schemas.openxmlformats.org/officeDocument/2006/relationships/slide" Target="/ppt/slides/slide5.xml" Id="R7939b95bceeb4eee" /><Relationship Type="http://schemas.openxmlformats.org/officeDocument/2006/relationships/slide" Target="/ppt/slides/slide6.xml" Id="R1eb11032c76846e0" /><Relationship Type="http://schemas.openxmlformats.org/officeDocument/2006/relationships/slide" Target="/ppt/slides/slide7.xml" Id="R7b68e9d7e3a342ca" /><Relationship Type="http://schemas.openxmlformats.org/officeDocument/2006/relationships/slide" Target="/ppt/slides/slide8.xml" Id="Raa3558a6c1c54399" /><Relationship Type="http://schemas.openxmlformats.org/officeDocument/2006/relationships/slide" Target="/ppt/slides/slide9.xml" Id="Re2f5177f456a442e" /><Relationship Type="http://schemas.openxmlformats.org/officeDocument/2006/relationships/slide" Target="/ppt/slides/slide10.xml" Id="R7fd9ddd3ad534563" /><Relationship Type="http://schemas.openxmlformats.org/officeDocument/2006/relationships/slide" Target="/ppt/slides/slide11.xml" Id="R0b4358350ad54d53" /><Relationship Type="http://schemas.openxmlformats.org/officeDocument/2006/relationships/slide" Target="/ppt/slides/slide12.xml" Id="Rc621caceba724746" /><Relationship Type="http://schemas.openxmlformats.org/officeDocument/2006/relationships/slide" Target="/ppt/slides/slide13.xml" Id="R7802ed0c763e41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bd3d81076f472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bcf702993f4ab8" /><Relationship Type="http://schemas.openxmlformats.org/officeDocument/2006/relationships/notesMaster" Target="/ppt/notesMasters/notesMaster1.xml" Id="R4fede3f5689b44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0af1e9dfe24c64" /><Relationship Type="http://schemas.openxmlformats.org/officeDocument/2006/relationships/notesMaster" Target="/ppt/notesMasters/notesMaster1.xml" Id="Ra61b10346fdc41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8383891bfa42af" /><Relationship Type="http://schemas.openxmlformats.org/officeDocument/2006/relationships/notesMaster" Target="/ppt/notesMasters/notesMaster1.xml" Id="R87f106493def46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f11755fdbd4a94" /><Relationship Type="http://schemas.openxmlformats.org/officeDocument/2006/relationships/notesMaster" Target="/ppt/notesMasters/notesMaster1.xml" Id="R317106a081894f1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927ea8674a4fb0" /><Relationship Type="http://schemas.openxmlformats.org/officeDocument/2006/relationships/notesMaster" Target="/ppt/notesMasters/notesMaster1.xml" Id="R69458df560494b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e9377df4b24f70" /><Relationship Type="http://schemas.openxmlformats.org/officeDocument/2006/relationships/notesMaster" Target="/ppt/notesMasters/notesMaster1.xml" Id="Rfde99d75185f4b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f0f33c0d9b40ea" /><Relationship Type="http://schemas.openxmlformats.org/officeDocument/2006/relationships/notesMaster" Target="/ppt/notesMasters/notesMaster1.xml" Id="Rc5932ee67b5e4d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e6a58c050045b9" /><Relationship Type="http://schemas.openxmlformats.org/officeDocument/2006/relationships/notesMaster" Target="/ppt/notesMasters/notesMaster1.xml" Id="R4e21e9601f094e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ee507bae4646ef" /><Relationship Type="http://schemas.openxmlformats.org/officeDocument/2006/relationships/notesMaster" Target="/ppt/notesMasters/notesMaster1.xml" Id="R2c91c0914a474f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7eaf3d23cb4152" /><Relationship Type="http://schemas.openxmlformats.org/officeDocument/2006/relationships/notesMaster" Target="/ppt/notesMasters/notesMaster1.xml" Id="R290b8279713547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9dc17e167784560" /><Relationship Type="http://schemas.openxmlformats.org/officeDocument/2006/relationships/notesMaster" Target="/ppt/notesMasters/notesMaster1.xml" Id="Rf04bcf6bdbc04b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975a2ca1b914cf2" /><Relationship Type="http://schemas.openxmlformats.org/officeDocument/2006/relationships/notesMaster" Target="/ppt/notesMasters/notesMaster1.xml" Id="R3156b98d7850470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26acd80b4e4fe4" /><Relationship Type="http://schemas.openxmlformats.org/officeDocument/2006/relationships/notesMaster" Target="/ppt/notesMasters/notesMaster1.xml" Id="R2e0039bc3aab42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AuditTrak connects the records behind a job: what was agreed, billed, paid, delivered and confirmed. This is a local MVP, with fictional demonstration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audience is an assumption to test with pilot users, not a validated market. Institutional reviewers are a second user role. Matching money alone cannot establish the commercial 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shows five stages: agreement, invoice, payment, fulfillment and confirmation. The second line groups invoice and payment only to keep this slide readable. Files and structured fields belong to the same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 in as the demo business owner and load the five fictional jobs. Create a job to start from scratch. The screenshot is from the local MVP, not a live customer deployment. Source: docs/images/assessment.jpg.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from data/five-scenarios.json. All three supplied amounts are NGN 250,000. Delivery and confirmation are still missing. The illustration is AI-generated educational artwork; no named app or account is connected. Platform styling is illustrative, not a claim about actual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from data/five-scenarios.json. The original agreement is NGN 300,000; invoice and payment are NGN 350,000. Review the hosting amendment. The illustration is AI-generated educational artwork; no named app or account is connected. Platform styling is illustrative, not a claim about actual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from data/five-scenarios.json. NGN 90,000 is linked against a NGN 180,000 invoice. Review the installment terms. The illustration is AI-generated educational artwork; no named app or account is connected. Platform styling is illustrative, not a claim about actual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from data/five-scenarios.json. The invoice names Kemi; the bank record names Third Party Holdings. Confirm their relationship. The illustration is AI-generated educational artwork; no named app or account is connected. Platform styling is illustrative, not a claim about actual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scenario from data/five-scenarios.json. A NGN 200,000 credit and NGN 200,000 debit leave net zero. Review their relationship. The illustration is AI-generated educational artwork; no named app or account is connected. Platform styling is illustrative, not a claim about actual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Amina has three stages present. Agreement, invoice and payment match, but delivery proof and current confirmation are missing, so the result remains Requires review. Coverage is not a calibrated probability or credit score. Source: docs/images/workspace.jpg.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message is sent automatically. Link possession is not independent identity verification. Reviewers add observations rather than credit decisions. All seeded reviewers can see all explicitly shared jobs in this local MVP; institutional grants are a production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model includes business, counterparty, commercial event, agreement, invoice, transaction, fulfillment, attestation, evidence item, assessment, flags, profile and audit history. The Mono adapter exists but no live sandbox account was validated. AI proposals never overwrite records or deterministic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local MVP, not a production financial system. A pilot must validate the audience hypothesis and operational safeguards. No traction, market size or revenue figures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a554efe17d4f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05645964354e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6d6f11fed34f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274f38fcf9455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e0173a6d5342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8f00f3f91f4b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ED571B-684B-4533-AFEA-9E00911CBD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0AD692-09DF-4ED7-A672-3A44D2452B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22281A-60B8-4E69-8C87-28C1BC5E96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EDC2D3-CDA2-4C5C-A00B-5BE6B1BDAD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148C78-9E72-4C97-8598-A14B3DC44C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73CC8E-5BEA-4AFB-9437-1C1EC31981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8322F8-C296-4D58-B980-3827C475AD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EA2EDC-54C4-4779-9702-2F753AFBB1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974B13-CB85-414D-80A7-501FB91C90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C5816F-A557-4D92-9A0D-B161C40565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c75f9e1b7a415b" /><Relationship Type="http://schemas.openxmlformats.org/officeDocument/2006/relationships/slideLayout" Target="/ppt/slideLayouts/slideLayout1.xml" Id="Rac755da0eef84891" /><Relationship Type="http://schemas.openxmlformats.org/officeDocument/2006/relationships/slideLayout" Target="/ppt/slideLayouts/slideLayout2.xml" Id="R7a613382973540a9" /><Relationship Type="http://schemas.openxmlformats.org/officeDocument/2006/relationships/slideLayout" Target="/ppt/slideLayouts/slideLayout3.xml" Id="Rda2d4cca72bd4c31" /><Relationship Type="http://schemas.openxmlformats.org/officeDocument/2006/relationships/slideLayout" Target="/ppt/slideLayouts/slideLayout4.xml" Id="Rbbed0ed7aec0416d" /><Relationship Type="http://schemas.openxmlformats.org/officeDocument/2006/relationships/slideLayout" Target="/ppt/slideLayouts/slideLayout5.xml" Id="Rff58c221875f483e" /><Relationship Type="http://schemas.openxmlformats.org/officeDocument/2006/relationships/slideLayout" Target="/ppt/slideLayouts/slideLayout6.xml" Id="R258f798584fe40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755da0eef84891"/>
    <p:sldLayoutId xmlns:r="http://schemas.openxmlformats.org/officeDocument/2006/relationships" id="2147483650" r:id="R7a613382973540a9"/>
    <p:sldLayoutId xmlns:r="http://schemas.openxmlformats.org/officeDocument/2006/relationships" id="2147483651" r:id="Rda2d4cca72bd4c31"/>
    <p:sldLayoutId xmlns:r="http://schemas.openxmlformats.org/officeDocument/2006/relationships" id="2147483652" r:id="Rbbed0ed7aec0416d"/>
    <p:sldLayoutId xmlns:r="http://schemas.openxmlformats.org/officeDocument/2006/relationships" id="2147483653" r:id="Rff58c221875f483e"/>
    <p:sldLayoutId xmlns:r="http://schemas.openxmlformats.org/officeDocument/2006/relationships" id="2147483654" r:id="R258f798584fe40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19edf09ec24d23" /><Relationship Type="http://schemas.openxmlformats.org/officeDocument/2006/relationships/notesSlide" Target="/ppt/notesSlides/notesSlide1.xml" Id="R4df42e3229a841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2a4e2e2e664a4d" /><Relationship Type="http://schemas.openxmlformats.org/officeDocument/2006/relationships/notesSlide" Target="/ppt/notesSlides/notesSlide2.xml" Id="R76ec5e205c564f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f72556627294307" /><Relationship Type="http://schemas.openxmlformats.org/officeDocument/2006/relationships/notesSlide" Target="/ppt/notesSlides/notesSlide3.xml" Id="Re15380295bf84d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cb8eb207b74092" /><Relationship Type="http://schemas.openxmlformats.org/officeDocument/2006/relationships/image" Target="/ppt/media/image.jpeg" Id="R17f4d917b6934012" /><Relationship Type="http://schemas.openxmlformats.org/officeDocument/2006/relationships/notesSlide" Target="/ppt/notesSlides/notesSlide4.xml" Id="Rf41ad84ed14d4f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4b780f37c54622" /><Relationship Type="http://schemas.openxmlformats.org/officeDocument/2006/relationships/image" Target="/ppt/media/image.png" Id="R922f2c31c77740e9" /><Relationship Type="http://schemas.openxmlformats.org/officeDocument/2006/relationships/notesSlide" Target="/ppt/notesSlides/notesSlide5.xml" Id="R38adb6f9a41940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89dd41253040b0" /><Relationship Type="http://schemas.openxmlformats.org/officeDocument/2006/relationships/image" Target="/ppt/media/image2.png" Id="Ra0e6eb920fc1403b" /><Relationship Type="http://schemas.openxmlformats.org/officeDocument/2006/relationships/notesSlide" Target="/ppt/notesSlides/notesSlide6.xml" Id="Rff5d1ff736e340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1f42837469496d" /><Relationship Type="http://schemas.openxmlformats.org/officeDocument/2006/relationships/image" Target="/ppt/media/image3.png" Id="Ra5e9f32a8fe04f8d" /><Relationship Type="http://schemas.openxmlformats.org/officeDocument/2006/relationships/notesSlide" Target="/ppt/notesSlides/notesSlide7.xml" Id="Rb15b0b5f6d5b48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072d18320d046dc" /><Relationship Type="http://schemas.openxmlformats.org/officeDocument/2006/relationships/image" Target="/ppt/media/image4.png" Id="Rbdf1df2caa1f4619" /><Relationship Type="http://schemas.openxmlformats.org/officeDocument/2006/relationships/notesSlide" Target="/ppt/notesSlides/notesSlide8.xml" Id="R46f4aebc5f2d4c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46667e2b52d459f" /><Relationship Type="http://schemas.openxmlformats.org/officeDocument/2006/relationships/image" Target="/ppt/media/image5.png" Id="R53dc2f1f86194a8c" /><Relationship Type="http://schemas.openxmlformats.org/officeDocument/2006/relationships/notesSlide" Target="/ppt/notesSlides/notesSlide9.xml" Id="Ra50f8f33df0349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cdcad74e3947be" /><Relationship Type="http://schemas.openxmlformats.org/officeDocument/2006/relationships/image" Target="/ppt/media/image2.jpeg" Id="R8ee553dc16764c7c" /><Relationship Type="http://schemas.openxmlformats.org/officeDocument/2006/relationships/notesSlide" Target="/ppt/notesSlides/notesSlide10.xml" Id="Readbe25f05f741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8ee802b2e714754" /><Relationship Type="http://schemas.openxmlformats.org/officeDocument/2006/relationships/notesSlide" Target="/ppt/notesSlides/notesSlide11.xml" Id="R51c89ea4d0e048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a851be1723e4811" /><Relationship Type="http://schemas.openxmlformats.org/officeDocument/2006/relationships/notesSlide" Target="/ppt/notesSlides/notesSlide12.xml" Id="R6d3d13df0f3a4b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d754631bb14560" /><Relationship Type="http://schemas.openxmlformats.org/officeDocument/2006/relationships/notesSlide" Target="/ppt/notesSlides/notesSlide13.xml" Id="R7dd7ced638764ad1" /></Relationships>
</file>

<file path=ppt/slides/slide1.xml><?xml version="1.0" encoding="utf-8"?>
<p:sld xmlns:p="http://schemas.openxmlformats.org/presentationml/2006/main">
  <p:cSld>
    <p:bg>
      <p:bgPr>
        <a:solidFill xmlns:a="http://schemas.openxmlformats.org/drawingml/2006/main">
          <a:srgbClr val="153C3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3CD240B-DF86-4E71-870A-C325A11764AE}"/>
              </a:ext>
            </a:extLst>
          </p:cNvPr>
          <p:cNvSpPr>
            <a:spLocks xmlns:a="http://schemas.openxmlformats.org/drawingml/2006/main" noGrp="1"/>
          </p:cNvSpPr>
          <p:nvPr/>
        </p:nvSpPr>
        <p:spPr>
          <a:xfrm xmlns:a="http://schemas.openxmlformats.org/drawingml/2006/main">
            <a:off x="666750" y="571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6C887"/>
                </a:solidFill>
                <a:latin typeface="Carlito"/>
                <a:ea typeface="Carlito"/>
                <a:cs typeface="Carlito"/>
              </a:defRPr>
            </a:defPPr>
          </a:lstStyle>
          <a:p xmlns:a="http://schemas.openxmlformats.org/drawingml/2006/main">
            <a:pPr>
              <a:defRPr sz="1875" b="1">
                <a:solidFill>
                  <a:srgbClr val="E6C887"/>
                </a:solidFill>
                <a:latin typeface="Carlito"/>
                <a:ea typeface="Carlito"/>
                <a:cs typeface="Carlito"/>
              </a:defRPr>
            </a:pPr>
            <a:r>
              <a:rPr sz="1875" b="1">
                <a:solidFill>
                  <a:srgbClr val="E6C887"/>
                </a:solidFill>
                <a:latin typeface="Carlito"/>
                <a:ea typeface="Carlito"/>
                <a:cs typeface="Carlito"/>
              </a:rPr>
              <a:t>AUDITTRAK</a:t>
            </a:r>
          </a:p>
        </p:txBody>
      </p:sp>
      <p:sp>
        <p:nvSpPr>
          <p:cNvPr id="2" name="">
            <a:extLst xmlns:a="http://schemas.openxmlformats.org/drawingml/2006/main">
              <a:ext uri="{FF2B5EF4-FFF2-40B4-BE49-F238E27FC236}">
                <a16:creationId xmlns:a16="http://schemas.microsoft.com/office/drawing/2014/main" id="{29F652B6-AE7A-4143-9272-9A64F4CF594B}"/>
              </a:ext>
            </a:extLst>
          </p:cNvPr>
          <p:cNvSpPr>
            <a:spLocks xmlns:a="http://schemas.openxmlformats.org/drawingml/2006/main" noGrp="1"/>
          </p:cNvSpPr>
          <p:nvPr/>
        </p:nvSpPr>
        <p:spPr>
          <a:xfrm xmlns:a="http://schemas.openxmlformats.org/drawingml/2006/main">
            <a:off x="666750" y="2095500"/>
            <a:ext cx="10477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FFFFFF"/>
                </a:solidFill>
                <a:latin typeface="Carlito"/>
                <a:ea typeface="Carlito"/>
                <a:cs typeface="Carlito"/>
              </a:defRPr>
            </a:defPPr>
          </a:lstStyle>
          <a:p xmlns:a="http://schemas.openxmlformats.org/drawingml/2006/main">
            <a:pPr>
              <a:defRPr sz="5250" b="1">
                <a:solidFill>
                  <a:srgbClr val="FFFFFF"/>
                </a:solidFill>
                <a:latin typeface="Carlito"/>
                <a:ea typeface="Carlito"/>
                <a:cs typeface="Carlito"/>
              </a:defRPr>
            </a:pPr>
            <a:r>
              <a:rPr sz="5250" b="1">
                <a:solidFill>
                  <a:srgbClr val="FFFFFF"/>
                </a:solidFill>
                <a:latin typeface="Carlito"/>
                <a:ea typeface="Carlito"/>
                <a:cs typeface="Carlito"/>
              </a:rPr>
              <a:t>The story behind</a:t>
            </a:r>
          </a:p>
          <a:p xmlns:a="http://schemas.openxmlformats.org/drawingml/2006/main">
            <a:pPr>
              <a:defRPr sz="5250" b="1">
                <a:solidFill>
                  <a:srgbClr val="FFFFFF"/>
                </a:solidFill>
                <a:latin typeface="Carlito"/>
                <a:ea typeface="Carlito"/>
                <a:cs typeface="Carlito"/>
              </a:defRPr>
            </a:pPr>
            <a:r>
              <a:rPr sz="5250" b="1">
                <a:solidFill>
                  <a:srgbClr val="FFFFFF"/>
                </a:solidFill>
                <a:latin typeface="Carlito"/>
                <a:ea typeface="Carlito"/>
                <a:cs typeface="Carlito"/>
              </a:rPr>
              <a:t>the transaction</a:t>
            </a:r>
          </a:p>
        </p:txBody>
      </p:sp>
      <p:sp>
        <p:nvSpPr>
          <p:cNvPr id="3" name="">
            <a:extLst xmlns:a="http://schemas.openxmlformats.org/drawingml/2006/main">
              <a:ext uri="{FF2B5EF4-FFF2-40B4-BE49-F238E27FC236}">
                <a16:creationId xmlns:a16="http://schemas.microsoft.com/office/drawing/2014/main" id="{BBD976CC-36DF-47C5-BC2A-EDD398F0B73F}"/>
              </a:ext>
            </a:extLst>
          </p:cNvPr>
          <p:cNvSpPr>
            <a:spLocks xmlns:a="http://schemas.openxmlformats.org/drawingml/2006/main" noGrp="1"/>
          </p:cNvSpPr>
          <p:nvPr/>
        </p:nvSpPr>
        <p:spPr>
          <a:xfrm xmlns:a="http://schemas.openxmlformats.org/drawingml/2006/main">
            <a:off x="704850" y="49053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C6DDD1"/>
                </a:solidFill>
                <a:latin typeface="Carlito"/>
                <a:ea typeface="Carlito"/>
                <a:cs typeface="Carlito"/>
              </a:defRPr>
            </a:defPPr>
          </a:lstStyle>
          <a:p xmlns:a="http://schemas.openxmlformats.org/drawingml/2006/main">
            <a:pPr>
              <a:defRPr sz="2100" b="0">
                <a:solidFill>
                  <a:srgbClr val="C6DDD1"/>
                </a:solidFill>
                <a:latin typeface="Carlito"/>
                <a:ea typeface="Carlito"/>
                <a:cs typeface="Carlito"/>
              </a:defRPr>
            </a:pPr>
            <a:r>
              <a:rPr sz="2100" b="0">
                <a:solidFill>
                  <a:srgbClr val="C6DDD1"/>
                </a:solidFill>
                <a:latin typeface="Carlito"/>
                <a:ea typeface="Carlito"/>
                <a:cs typeface="Carlito"/>
              </a:rPr>
              <a:t>MVP walkthrough · Fictional examples · October 2026</a:t>
            </a:r>
          </a:p>
        </p:txBody>
      </p:sp>
    </p:spTree>
    <p:extLst>
      <p:ext uri="{BB962C8B-B14F-4D97-AF65-F5344CB8AC3E}">
        <p14:creationId xmlns:p14="http://schemas.microsoft.com/office/powerpoint/2010/main" val="1595826093"/>
      </p:ext>
    </p:extLst>
  </p:cSld>
</p:sld>
</file>

<file path=ppt/slides/slide2.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EE59AE7-EB14-414F-843F-B06EA3D8F602}"/>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People and problem</a:t>
            </a:r>
          </a:p>
        </p:txBody>
      </p:sp>
      <p:sp>
        <p:nvSpPr>
          <p:cNvPr id="2" name="">
            <a:extLst xmlns:a="http://schemas.openxmlformats.org/drawingml/2006/main">
              <a:ext uri="{FF2B5EF4-FFF2-40B4-BE49-F238E27FC236}">
                <a16:creationId xmlns:a16="http://schemas.microsoft.com/office/drawing/2014/main" id="{4A50CF9A-0A9A-41E4-B582-B0A3F773B496}"/>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02</a:t>
            </a:r>
          </a:p>
        </p:txBody>
      </p:sp>
      <p:sp>
        <p:nvSpPr>
          <p:cNvPr id="3" name="">
            <a:extLst xmlns:a="http://schemas.openxmlformats.org/drawingml/2006/main">
              <a:ext uri="{FF2B5EF4-FFF2-40B4-BE49-F238E27FC236}">
                <a16:creationId xmlns:a16="http://schemas.microsoft.com/office/drawing/2014/main" id="{E4DCFCF6-A811-4236-85A9-417916BC8D4A}"/>
              </a:ext>
            </a:extLst>
          </p:cNvPr>
          <p:cNvSpPr>
            <a:spLocks xmlns:a="http://schemas.openxmlformats.org/drawingml/2006/main" noGrp="1"/>
          </p:cNvSpPr>
          <p:nvPr/>
        </p:nvSpPr>
        <p:spPr>
          <a:xfrm xmlns:a="http://schemas.openxmlformats.org/drawingml/2006/main">
            <a:off x="647700" y="1590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01</a:t>
            </a:r>
          </a:p>
        </p:txBody>
      </p:sp>
      <p:sp>
        <p:nvSpPr>
          <p:cNvPr id="4" name="">
            <a:extLst xmlns:a="http://schemas.openxmlformats.org/drawingml/2006/main">
              <a:ext uri="{FF2B5EF4-FFF2-40B4-BE49-F238E27FC236}">
                <a16:creationId xmlns:a16="http://schemas.microsoft.com/office/drawing/2014/main" id="{91E2B7F7-360D-4068-8A18-D4D4C97EC15B}"/>
              </a:ext>
            </a:extLst>
          </p:cNvPr>
          <p:cNvSpPr>
            <a:spLocks xmlns:a="http://schemas.openxmlformats.org/drawingml/2006/main" noGrp="1"/>
          </p:cNvSpPr>
          <p:nvPr/>
        </p:nvSpPr>
        <p:spPr>
          <a:xfrm xmlns:a="http://schemas.openxmlformats.org/drawingml/2006/main">
            <a:off x="1476375" y="14954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Initial audience hypothesis: freelancers and small service businesses.</a:t>
            </a:r>
          </a:p>
        </p:txBody>
      </p:sp>
      <p:sp>
        <p:nvSpPr>
          <p:cNvPr id="5" name="">
            <a:extLst xmlns:a="http://schemas.openxmlformats.org/drawingml/2006/main">
              <a:ext uri="{FF2B5EF4-FFF2-40B4-BE49-F238E27FC236}">
                <a16:creationId xmlns:a16="http://schemas.microsoft.com/office/drawing/2014/main" id="{36F97ED2-9DE9-45D7-9A51-BDEAB8A1FA28}"/>
              </a:ext>
            </a:extLst>
          </p:cNvPr>
          <p:cNvSpPr>
            <a:spLocks xmlns:a="http://schemas.openxmlformats.org/drawingml/2006/main" noGrp="1"/>
          </p:cNvSpPr>
          <p:nvPr/>
        </p:nvSpPr>
        <p:spPr>
          <a:xfrm xmlns:a="http://schemas.openxmlformats.org/drawingml/2006/main">
            <a:off x="647700" y="2657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02</a:t>
            </a:r>
          </a:p>
        </p:txBody>
      </p:sp>
      <p:sp>
        <p:nvSpPr>
          <p:cNvPr id="6" name="">
            <a:extLst xmlns:a="http://schemas.openxmlformats.org/drawingml/2006/main">
              <a:ext uri="{FF2B5EF4-FFF2-40B4-BE49-F238E27FC236}">
                <a16:creationId xmlns:a16="http://schemas.microsoft.com/office/drawing/2014/main" id="{7AC78E93-D1E9-425C-B61E-AC977106CF46}"/>
              </a:ext>
            </a:extLst>
          </p:cNvPr>
          <p:cNvSpPr>
            <a:spLocks xmlns:a="http://schemas.openxmlformats.org/drawingml/2006/main" noGrp="1"/>
          </p:cNvSpPr>
          <p:nvPr/>
        </p:nvSpPr>
        <p:spPr>
          <a:xfrm xmlns:a="http://schemas.openxmlformats.org/drawingml/2006/main">
            <a:off x="1476375" y="25622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A reviewer needs to connect a payment to the work it represents.</a:t>
            </a:r>
          </a:p>
        </p:txBody>
      </p:sp>
      <p:sp>
        <p:nvSpPr>
          <p:cNvPr id="7" name="">
            <a:extLst xmlns:a="http://schemas.openxmlformats.org/drawingml/2006/main">
              <a:ext uri="{FF2B5EF4-FFF2-40B4-BE49-F238E27FC236}">
                <a16:creationId xmlns:a16="http://schemas.microsoft.com/office/drawing/2014/main" id="{780B9895-CFB7-4217-8B98-BC285CB81545}"/>
              </a:ext>
            </a:extLst>
          </p:cNvPr>
          <p:cNvSpPr>
            <a:spLocks xmlns:a="http://schemas.openxmlformats.org/drawingml/2006/main" noGrp="1"/>
          </p:cNvSpPr>
          <p:nvPr/>
        </p:nvSpPr>
        <p:spPr>
          <a:xfrm xmlns:a="http://schemas.openxmlformats.org/drawingml/2006/main">
            <a:off x="647700" y="3724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03</a:t>
            </a:r>
          </a:p>
        </p:txBody>
      </p:sp>
      <p:sp>
        <p:nvSpPr>
          <p:cNvPr id="8" name="">
            <a:extLst xmlns:a="http://schemas.openxmlformats.org/drawingml/2006/main">
              <a:ext uri="{FF2B5EF4-FFF2-40B4-BE49-F238E27FC236}">
                <a16:creationId xmlns:a16="http://schemas.microsoft.com/office/drawing/2014/main" id="{2B468315-2D2F-4EB2-B571-B765C1ACF01F}"/>
              </a:ext>
            </a:extLst>
          </p:cNvPr>
          <p:cNvSpPr>
            <a:spLocks xmlns:a="http://schemas.openxmlformats.org/drawingml/2006/main" noGrp="1"/>
          </p:cNvSpPr>
          <p:nvPr/>
        </p:nvSpPr>
        <p:spPr>
          <a:xfrm xmlns:a="http://schemas.openxmlformats.org/drawingml/2006/main">
            <a:off x="1476375" y="36290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Chats, invoices and bank lines may disagree or omit context.</a:t>
            </a:r>
          </a:p>
        </p:txBody>
      </p:sp>
      <p:sp>
        <p:nvSpPr>
          <p:cNvPr id="9" name="">
            <a:extLst xmlns:a="http://schemas.openxmlformats.org/drawingml/2006/main">
              <a:ext uri="{FF2B5EF4-FFF2-40B4-BE49-F238E27FC236}">
                <a16:creationId xmlns:a16="http://schemas.microsoft.com/office/drawing/2014/main" id="{42039D82-CC61-4E56-9567-731543313547}"/>
              </a:ext>
            </a:extLst>
          </p:cNvPr>
          <p:cNvSpPr>
            <a:spLocks xmlns:a="http://schemas.openxmlformats.org/drawingml/2006/main" noGrp="1"/>
          </p:cNvSpPr>
          <p:nvPr/>
        </p:nvSpPr>
        <p:spPr>
          <a:xfrm xmlns:a="http://schemas.openxmlformats.org/drawingml/2006/main">
            <a:off x="647700" y="4791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04</a:t>
            </a:r>
          </a:p>
        </p:txBody>
      </p:sp>
      <p:sp>
        <p:nvSpPr>
          <p:cNvPr id="10" name="">
            <a:extLst xmlns:a="http://schemas.openxmlformats.org/drawingml/2006/main">
              <a:ext uri="{FF2B5EF4-FFF2-40B4-BE49-F238E27FC236}">
                <a16:creationId xmlns:a16="http://schemas.microsoft.com/office/drawing/2014/main" id="{5813C60C-D0AA-42E6-96CB-9B9AA22FB692}"/>
              </a:ext>
            </a:extLst>
          </p:cNvPr>
          <p:cNvSpPr>
            <a:spLocks xmlns:a="http://schemas.openxmlformats.org/drawingml/2006/main" noGrp="1"/>
          </p:cNvSpPr>
          <p:nvPr/>
        </p:nvSpPr>
        <p:spPr>
          <a:xfrm xmlns:a="http://schemas.openxmlformats.org/drawingml/2006/main">
            <a:off x="1476375" y="46958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The MVP collects records and explains what needs checking.</a:t>
            </a:r>
          </a:p>
        </p:txBody>
      </p:sp>
    </p:spTree>
    <p:extLst>
      <p:ext uri="{BB962C8B-B14F-4D97-AF65-F5344CB8AC3E}">
        <p14:creationId xmlns:p14="http://schemas.microsoft.com/office/powerpoint/2010/main" val="2006007127"/>
      </p:ext>
    </p:extLst>
  </p:cSld>
</p:sld>
</file>

<file path=ppt/slides/slide3.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05A250-3B4B-40A6-8C16-CA641AF06454}"/>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The five evidence questions</a:t>
            </a:r>
          </a:p>
        </p:txBody>
      </p:sp>
      <p:sp>
        <p:nvSpPr>
          <p:cNvPr id="2" name="">
            <a:extLst xmlns:a="http://schemas.openxmlformats.org/drawingml/2006/main">
              <a:ext uri="{FF2B5EF4-FFF2-40B4-BE49-F238E27FC236}">
                <a16:creationId xmlns:a16="http://schemas.microsoft.com/office/drawing/2014/main" id="{F573499B-FE2F-4952-B3CC-EA3D313971C7}"/>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03</a:t>
            </a:r>
          </a:p>
        </p:txBody>
      </p:sp>
      <p:sp>
        <p:nvSpPr>
          <p:cNvPr id="3" name="">
            <a:extLst xmlns:a="http://schemas.openxmlformats.org/drawingml/2006/main">
              <a:ext uri="{FF2B5EF4-FFF2-40B4-BE49-F238E27FC236}">
                <a16:creationId xmlns:a16="http://schemas.microsoft.com/office/drawing/2014/main" id="{9D46B677-2FA9-472E-B8D9-3208C1D84EA4}"/>
              </a:ext>
            </a:extLst>
          </p:cNvPr>
          <p:cNvSpPr>
            <a:spLocks xmlns:a="http://schemas.openxmlformats.org/drawingml/2006/main" noGrp="1"/>
          </p:cNvSpPr>
          <p:nvPr/>
        </p:nvSpPr>
        <p:spPr>
          <a:xfrm xmlns:a="http://schemas.openxmlformats.org/drawingml/2006/main">
            <a:off x="647700" y="1590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01</a:t>
            </a:r>
          </a:p>
        </p:txBody>
      </p:sp>
      <p:sp>
        <p:nvSpPr>
          <p:cNvPr id="4" name="">
            <a:extLst xmlns:a="http://schemas.openxmlformats.org/drawingml/2006/main">
              <a:ext uri="{FF2B5EF4-FFF2-40B4-BE49-F238E27FC236}">
                <a16:creationId xmlns:a16="http://schemas.microsoft.com/office/drawing/2014/main" id="{1B92F6A3-E4D4-43BA-83E1-F9FF65767D9B}"/>
              </a:ext>
            </a:extLst>
          </p:cNvPr>
          <p:cNvSpPr>
            <a:spLocks xmlns:a="http://schemas.openxmlformats.org/drawingml/2006/main" noGrp="1"/>
          </p:cNvSpPr>
          <p:nvPr/>
        </p:nvSpPr>
        <p:spPr>
          <a:xfrm xmlns:a="http://schemas.openxmlformats.org/drawingml/2006/main">
            <a:off x="1476375" y="14954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Agreement: what work and price did the parties agree to?</a:t>
            </a:r>
          </a:p>
        </p:txBody>
      </p:sp>
      <p:sp>
        <p:nvSpPr>
          <p:cNvPr id="5" name="">
            <a:extLst xmlns:a="http://schemas.openxmlformats.org/drawingml/2006/main">
              <a:ext uri="{FF2B5EF4-FFF2-40B4-BE49-F238E27FC236}">
                <a16:creationId xmlns:a16="http://schemas.microsoft.com/office/drawing/2014/main" id="{B3424FB7-A637-4D9B-B871-E63F3EA5098A}"/>
              </a:ext>
            </a:extLst>
          </p:cNvPr>
          <p:cNvSpPr>
            <a:spLocks xmlns:a="http://schemas.openxmlformats.org/drawingml/2006/main" noGrp="1"/>
          </p:cNvSpPr>
          <p:nvPr/>
        </p:nvSpPr>
        <p:spPr>
          <a:xfrm xmlns:a="http://schemas.openxmlformats.org/drawingml/2006/main">
            <a:off x="647700" y="2657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02</a:t>
            </a:r>
          </a:p>
        </p:txBody>
      </p:sp>
      <p:sp>
        <p:nvSpPr>
          <p:cNvPr id="6" name="">
            <a:extLst xmlns:a="http://schemas.openxmlformats.org/drawingml/2006/main">
              <a:ext uri="{FF2B5EF4-FFF2-40B4-BE49-F238E27FC236}">
                <a16:creationId xmlns:a16="http://schemas.microsoft.com/office/drawing/2014/main" id="{6D9153F9-09E1-4A5F-A574-F7F7C3B6A51F}"/>
              </a:ext>
            </a:extLst>
          </p:cNvPr>
          <p:cNvSpPr>
            <a:spLocks xmlns:a="http://schemas.openxmlformats.org/drawingml/2006/main" noGrp="1"/>
          </p:cNvSpPr>
          <p:nvPr/>
        </p:nvSpPr>
        <p:spPr>
          <a:xfrm xmlns:a="http://schemas.openxmlformats.org/drawingml/2006/main">
            <a:off x="1476375" y="25622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Invoice and payment: what was billed, and what arrived?</a:t>
            </a:r>
          </a:p>
        </p:txBody>
      </p:sp>
      <p:sp>
        <p:nvSpPr>
          <p:cNvPr id="7" name="">
            <a:extLst xmlns:a="http://schemas.openxmlformats.org/drawingml/2006/main">
              <a:ext uri="{FF2B5EF4-FFF2-40B4-BE49-F238E27FC236}">
                <a16:creationId xmlns:a16="http://schemas.microsoft.com/office/drawing/2014/main" id="{33B6EA85-F04F-4A4F-99F2-F48E29C08019}"/>
              </a:ext>
            </a:extLst>
          </p:cNvPr>
          <p:cNvSpPr>
            <a:spLocks xmlns:a="http://schemas.openxmlformats.org/drawingml/2006/main" noGrp="1"/>
          </p:cNvSpPr>
          <p:nvPr/>
        </p:nvSpPr>
        <p:spPr>
          <a:xfrm xmlns:a="http://schemas.openxmlformats.org/drawingml/2006/main">
            <a:off x="647700" y="3724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03</a:t>
            </a:r>
          </a:p>
        </p:txBody>
      </p:sp>
      <p:sp>
        <p:nvSpPr>
          <p:cNvPr id="8" name="">
            <a:extLst xmlns:a="http://schemas.openxmlformats.org/drawingml/2006/main">
              <a:ext uri="{FF2B5EF4-FFF2-40B4-BE49-F238E27FC236}">
                <a16:creationId xmlns:a16="http://schemas.microsoft.com/office/drawing/2014/main" id="{90F97EC0-6431-490F-8DE2-B080B762F6CB}"/>
              </a:ext>
            </a:extLst>
          </p:cNvPr>
          <p:cNvSpPr>
            <a:spLocks xmlns:a="http://schemas.openxmlformats.org/drawingml/2006/main" noGrp="1"/>
          </p:cNvSpPr>
          <p:nvPr/>
        </p:nvSpPr>
        <p:spPr>
          <a:xfrm xmlns:a="http://schemas.openxmlformats.org/drawingml/2006/main">
            <a:off x="1476375" y="36290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Delivery: what work was completed, with supporting evidence?</a:t>
            </a:r>
          </a:p>
        </p:txBody>
      </p:sp>
      <p:sp>
        <p:nvSpPr>
          <p:cNvPr id="9" name="">
            <a:extLst xmlns:a="http://schemas.openxmlformats.org/drawingml/2006/main">
              <a:ext uri="{FF2B5EF4-FFF2-40B4-BE49-F238E27FC236}">
                <a16:creationId xmlns:a16="http://schemas.microsoft.com/office/drawing/2014/main" id="{8DC0EDCF-03F2-470E-909A-905876011334}"/>
              </a:ext>
            </a:extLst>
          </p:cNvPr>
          <p:cNvSpPr>
            <a:spLocks xmlns:a="http://schemas.openxmlformats.org/drawingml/2006/main" noGrp="1"/>
          </p:cNvSpPr>
          <p:nvPr/>
        </p:nvSpPr>
        <p:spPr>
          <a:xfrm xmlns:a="http://schemas.openxmlformats.org/drawingml/2006/main">
            <a:off x="647700" y="4791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04</a:t>
            </a:r>
          </a:p>
        </p:txBody>
      </p:sp>
      <p:sp>
        <p:nvSpPr>
          <p:cNvPr id="10" name="">
            <a:extLst xmlns:a="http://schemas.openxmlformats.org/drawingml/2006/main">
              <a:ext uri="{FF2B5EF4-FFF2-40B4-BE49-F238E27FC236}">
                <a16:creationId xmlns:a16="http://schemas.microsoft.com/office/drawing/2014/main" id="{E6BE2C3C-4748-4DEF-AFCB-7A7AE41D3D62}"/>
              </a:ext>
            </a:extLst>
          </p:cNvPr>
          <p:cNvSpPr>
            <a:spLocks xmlns:a="http://schemas.openxmlformats.org/drawingml/2006/main" noGrp="1"/>
          </p:cNvSpPr>
          <p:nvPr/>
        </p:nvSpPr>
        <p:spPr>
          <a:xfrm xmlns:a="http://schemas.openxmlformats.org/drawingml/2006/main">
            <a:off x="1476375" y="46958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Confirmation: what does the intended client say about this revision?</a:t>
            </a:r>
          </a:p>
        </p:txBody>
      </p:sp>
    </p:spTree>
    <p:extLst>
      <p:ext uri="{BB962C8B-B14F-4D97-AF65-F5344CB8AC3E}">
        <p14:creationId xmlns:p14="http://schemas.microsoft.com/office/powerpoint/2010/main" val="1743315357"/>
      </p:ext>
    </p:extLst>
  </p:cSld>
</p:sld>
</file>

<file path=ppt/slides/slide4.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E00E78-33D4-45B5-ADCB-85166B843EBD}"/>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The business workspace</a:t>
            </a:r>
          </a:p>
        </p:txBody>
      </p:sp>
      <p:sp>
        <p:nvSpPr>
          <p:cNvPr id="2" name="">
            <a:extLst xmlns:a="http://schemas.openxmlformats.org/drawingml/2006/main">
              <a:ext uri="{FF2B5EF4-FFF2-40B4-BE49-F238E27FC236}">
                <a16:creationId xmlns:a16="http://schemas.microsoft.com/office/drawing/2014/main" id="{2149ECEE-DE18-4A99-B2AF-A02F3BE7D740}"/>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04</a:t>
            </a:r>
          </a:p>
        </p:txBody>
      </p:sp>
      <p:pic>
        <p:nvPicPr>
          <p:cNvPr id="3" name="">
            <a:extLst xmlns:a="http://schemas.openxmlformats.org/drawingml/2006/main">
              <a:ext uri="{FF2B5EF4-FFF2-40B4-BE49-F238E27FC236}">
                <a16:creationId xmlns:a16="http://schemas.microsoft.com/office/drawing/2014/main" id="{9890916E-F049-42EB-BE94-61F567CF5F9D}"/>
              </a:ext>
            </a:extLst>
          </p:cNvPr>
          <p:cNvPicPr>
            <a:picLocks xmlns:a="http://schemas.openxmlformats.org/drawingml/2006/main" noChangeAspect="1"/>
          </p:cNvPicPr>
          <p:nvPr/>
        </p:nvPicPr>
        <p:blipFill>
          <a:blip xmlns:r="http://schemas.openxmlformats.org/officeDocument/2006/relationships" xmlns:a="http://schemas.openxmlformats.org/drawingml/2006/main" r:embed="R17f4d917b6934012"/>
          <a:stretch xmlns:a="http://schemas.openxmlformats.org/drawingml/2006/main"/>
        </p:blipFill>
        <p:spPr>
          <a:xfrm xmlns:a="http://schemas.openxmlformats.org/drawingml/2006/main">
            <a:off x="1016472" y="1428750"/>
            <a:ext cx="6539556"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75180D-E260-483A-A7E1-EF36939A8A00}"/>
              </a:ext>
            </a:extLst>
          </p:cNvPr>
          <p:cNvSpPr>
            <a:spLocks xmlns:a="http://schemas.openxmlformats.org/drawingml/2006/main" noGrp="1"/>
          </p:cNvSpPr>
          <p:nvPr/>
        </p:nvSpPr>
        <p:spPr>
          <a:xfrm xmlns:a="http://schemas.openxmlformats.org/drawingml/2006/main">
            <a:off x="8382000" y="1809750"/>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53C35"/>
                </a:solidFill>
                <a:latin typeface="Carlito"/>
                <a:ea typeface="Carlito"/>
                <a:cs typeface="Carlito"/>
              </a:defRPr>
            </a:defPPr>
          </a:lstStyle>
          <a:p xmlns:a="http://schemas.openxmlformats.org/drawingml/2006/main">
            <a:pPr>
              <a:defRPr sz="2550" b="1">
                <a:solidFill>
                  <a:srgbClr val="153C35"/>
                </a:solidFill>
                <a:latin typeface="Carlito"/>
                <a:ea typeface="Carlito"/>
                <a:cs typeface="Carlito"/>
              </a:defRPr>
            </a:pPr>
            <a:r>
              <a:rPr sz="2550" b="1">
                <a:solidFill>
                  <a:srgbClr val="153C35"/>
                </a:solidFill>
                <a:latin typeface="Carlito"/>
                <a:ea typeface="Carlito"/>
                <a:cs typeface="Carlito"/>
              </a:rPr>
              <a:t>One job gathers</a:t>
            </a:r>
          </a:p>
          <a:p xmlns:a="http://schemas.openxmlformats.org/drawingml/2006/main">
            <a:pPr>
              <a:defRPr sz="2550" b="1">
                <a:solidFill>
                  <a:srgbClr val="153C35"/>
                </a:solidFill>
                <a:latin typeface="Carlito"/>
                <a:ea typeface="Carlito"/>
                <a:cs typeface="Carlito"/>
              </a:defRPr>
            </a:pPr>
            <a:r>
              <a:rPr sz="2550" b="1">
                <a:solidFill>
                  <a:srgbClr val="153C35"/>
                </a:solidFill>
                <a:latin typeface="Carlito"/>
                <a:ea typeface="Carlito"/>
                <a:cs typeface="Carlito"/>
              </a:rPr>
              <a:t>the related records.</a:t>
            </a:r>
          </a:p>
        </p:txBody>
      </p:sp>
      <p:sp>
        <p:nvSpPr>
          <p:cNvPr id="5" name="">
            <a:extLst xmlns:a="http://schemas.openxmlformats.org/drawingml/2006/main">
              <a:ext uri="{FF2B5EF4-FFF2-40B4-BE49-F238E27FC236}">
                <a16:creationId xmlns:a16="http://schemas.microsoft.com/office/drawing/2014/main" id="{96A3F5A7-3D37-4B38-B51C-29EE73D4F872}"/>
              </a:ext>
            </a:extLst>
          </p:cNvPr>
          <p:cNvSpPr>
            <a:spLocks xmlns:a="http://schemas.openxmlformats.org/drawingml/2006/main" noGrp="1"/>
          </p:cNvSpPr>
          <p:nvPr/>
        </p:nvSpPr>
        <p:spPr>
          <a:xfrm xmlns:a="http://schemas.openxmlformats.org/drawingml/2006/main">
            <a:off x="8382000" y="3429000"/>
            <a:ext cx="295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Open a job, inspect its conversation, add evidence, then run the check.</a:t>
            </a:r>
          </a:p>
        </p:txBody>
      </p:sp>
    </p:spTree>
    <p:extLst>
      <p:ext uri="{BB962C8B-B14F-4D97-AF65-F5344CB8AC3E}">
        <p14:creationId xmlns:p14="http://schemas.microsoft.com/office/powerpoint/2010/main" val="1398776965"/>
      </p:ext>
    </p:extLst>
  </p:cSld>
</p:sld>
</file>

<file path=ppt/slides/slide5.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9379D3-CE9D-468D-972E-435041762D12}"/>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Amina — Amounts match</a:t>
            </a:r>
          </a:p>
        </p:txBody>
      </p:sp>
      <p:sp>
        <p:nvSpPr>
          <p:cNvPr id="2" name="">
            <a:extLst xmlns:a="http://schemas.openxmlformats.org/drawingml/2006/main">
              <a:ext uri="{FF2B5EF4-FFF2-40B4-BE49-F238E27FC236}">
                <a16:creationId xmlns:a16="http://schemas.microsoft.com/office/drawing/2014/main" id="{342DD693-4264-48BF-A22B-470D4E411008}"/>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05</a:t>
            </a:r>
          </a:p>
        </p:txBody>
      </p:sp>
      <p:sp>
        <p:nvSpPr>
          <p:cNvPr id="3" name="">
            <a:extLst xmlns:a="http://schemas.openxmlformats.org/drawingml/2006/main">
              <a:ext uri="{FF2B5EF4-FFF2-40B4-BE49-F238E27FC236}">
                <a16:creationId xmlns:a16="http://schemas.microsoft.com/office/drawing/2014/main" id="{5B76FA92-08AE-4934-9FE2-08A2E76A2D9B}"/>
              </a:ext>
            </a:extLst>
          </p:cNvPr>
          <p:cNvSpPr>
            <a:spLocks xmlns:a="http://schemas.openxmlformats.org/drawingml/2006/main" noGrp="1"/>
          </p:cNvSpPr>
          <p:nvPr/>
        </p:nvSpPr>
        <p:spPr>
          <a:xfrm xmlns:a="http://schemas.openxmlformats.org/drawingml/2006/main">
            <a:off x="590550" y="1809750"/>
            <a:ext cx="2333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All three supplied amounts are NGN 250,000. Delivery and confirmation are still missing.</a:t>
            </a:r>
          </a:p>
        </p:txBody>
      </p:sp>
      <p:pic>
        <p:nvPicPr>
          <p:cNvPr id="4" name="">
            <a:extLst xmlns:a="http://schemas.openxmlformats.org/drawingml/2006/main">
              <a:ext uri="{FF2B5EF4-FFF2-40B4-BE49-F238E27FC236}">
                <a16:creationId xmlns:a16="http://schemas.microsoft.com/office/drawing/2014/main" id="{5D2F4615-C36C-44B6-9DBD-0D685CAF15CA}"/>
              </a:ext>
            </a:extLst>
          </p:cNvPr>
          <p:cNvPicPr>
            <a:picLocks xmlns:a="http://schemas.openxmlformats.org/drawingml/2006/main" noChangeAspect="1"/>
          </p:cNvPicPr>
          <p:nvPr/>
        </p:nvPicPr>
        <p:blipFill>
          <a:blip xmlns:r="http://schemas.openxmlformats.org/officeDocument/2006/relationships" xmlns:a="http://schemas.openxmlformats.org/drawingml/2006/main" r:embed="R922f2c31c77740e9"/>
          <a:stretch xmlns:a="http://schemas.openxmlformats.org/drawingml/2006/main"/>
        </p:blipFill>
        <p:spPr>
          <a:xfrm xmlns:a="http://schemas.openxmlformats.org/drawingml/2006/main">
            <a:off x="3571875" y="1333500"/>
            <a:ext cx="7572375" cy="5048250"/>
          </a:xfrm>
          <a:prstGeom xmlns:a="http://schemas.openxmlformats.org/drawingml/2006/main" prst="rect">
            <a:avLst/>
          </a:prstGeom>
        </p:spPr>
      </p:pic>
    </p:spTree>
    <p:extLst>
      <p:ext uri="{BB962C8B-B14F-4D97-AF65-F5344CB8AC3E}">
        <p14:creationId xmlns:p14="http://schemas.microsoft.com/office/powerpoint/2010/main" val="65665390"/>
      </p:ext>
    </p:extLst>
  </p:cSld>
</p:sld>
</file>

<file path=ppt/slides/slide6.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229A99-0A33-4B37-9251-FE694D587928}"/>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Chidi — Price changed</a:t>
            </a:r>
          </a:p>
        </p:txBody>
      </p:sp>
      <p:sp>
        <p:nvSpPr>
          <p:cNvPr id="2" name="">
            <a:extLst xmlns:a="http://schemas.openxmlformats.org/drawingml/2006/main">
              <a:ext uri="{FF2B5EF4-FFF2-40B4-BE49-F238E27FC236}">
                <a16:creationId xmlns:a16="http://schemas.microsoft.com/office/drawing/2014/main" id="{93B4A186-21E9-4EDA-9F0C-AEBF3AE38404}"/>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06</a:t>
            </a:r>
          </a:p>
        </p:txBody>
      </p:sp>
      <p:sp>
        <p:nvSpPr>
          <p:cNvPr id="3" name="">
            <a:extLst xmlns:a="http://schemas.openxmlformats.org/drawingml/2006/main">
              <a:ext uri="{FF2B5EF4-FFF2-40B4-BE49-F238E27FC236}">
                <a16:creationId xmlns:a16="http://schemas.microsoft.com/office/drawing/2014/main" id="{4B463FE6-998E-401E-84F7-1E87FF5E73C8}"/>
              </a:ext>
            </a:extLst>
          </p:cNvPr>
          <p:cNvSpPr>
            <a:spLocks xmlns:a="http://schemas.openxmlformats.org/drawingml/2006/main" noGrp="1"/>
          </p:cNvSpPr>
          <p:nvPr/>
        </p:nvSpPr>
        <p:spPr>
          <a:xfrm xmlns:a="http://schemas.openxmlformats.org/drawingml/2006/main">
            <a:off x="590550" y="1809750"/>
            <a:ext cx="2333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The original agreement is NGN 300,000; invoice and payment are NGN 350,000. Review the hosting amendment.</a:t>
            </a:r>
          </a:p>
        </p:txBody>
      </p:sp>
      <p:pic>
        <p:nvPicPr>
          <p:cNvPr id="4" name="">
            <a:extLst xmlns:a="http://schemas.openxmlformats.org/drawingml/2006/main">
              <a:ext uri="{FF2B5EF4-FFF2-40B4-BE49-F238E27FC236}">
                <a16:creationId xmlns:a16="http://schemas.microsoft.com/office/drawing/2014/main" id="{167F1C0B-66BD-4C64-A74C-2564916BB204}"/>
              </a:ext>
            </a:extLst>
          </p:cNvPr>
          <p:cNvPicPr>
            <a:picLocks xmlns:a="http://schemas.openxmlformats.org/drawingml/2006/main" noChangeAspect="1"/>
          </p:cNvPicPr>
          <p:nvPr/>
        </p:nvPicPr>
        <p:blipFill>
          <a:blip xmlns:r="http://schemas.openxmlformats.org/officeDocument/2006/relationships" xmlns:a="http://schemas.openxmlformats.org/drawingml/2006/main" r:embed="Ra0e6eb920fc1403b"/>
          <a:stretch xmlns:a="http://schemas.openxmlformats.org/drawingml/2006/main"/>
        </p:blipFill>
        <p:spPr>
          <a:xfrm xmlns:a="http://schemas.openxmlformats.org/drawingml/2006/main">
            <a:off x="3571875" y="1333500"/>
            <a:ext cx="7572375" cy="5048250"/>
          </a:xfrm>
          <a:prstGeom xmlns:a="http://schemas.openxmlformats.org/drawingml/2006/main" prst="rect">
            <a:avLst/>
          </a:prstGeom>
        </p:spPr>
      </p:pic>
    </p:spTree>
    <p:extLst>
      <p:ext uri="{BB962C8B-B14F-4D97-AF65-F5344CB8AC3E}">
        <p14:creationId xmlns:p14="http://schemas.microsoft.com/office/powerpoint/2010/main" val="1471590413"/>
      </p:ext>
    </p:extLst>
  </p:cSld>
</p:sld>
</file>

<file path=ppt/slides/slide7.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A789A0-AC7D-4BB8-800F-6675B781AD76}"/>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Zainab — Part payment</a:t>
            </a:r>
          </a:p>
        </p:txBody>
      </p:sp>
      <p:sp>
        <p:nvSpPr>
          <p:cNvPr id="2" name="">
            <a:extLst xmlns:a="http://schemas.openxmlformats.org/drawingml/2006/main">
              <a:ext uri="{FF2B5EF4-FFF2-40B4-BE49-F238E27FC236}">
                <a16:creationId xmlns:a16="http://schemas.microsoft.com/office/drawing/2014/main" id="{3A3CA67E-FC92-4528-B2F2-6C5128BD55E8}"/>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07</a:t>
            </a:r>
          </a:p>
        </p:txBody>
      </p:sp>
      <p:sp>
        <p:nvSpPr>
          <p:cNvPr id="3" name="">
            <a:extLst xmlns:a="http://schemas.openxmlformats.org/drawingml/2006/main">
              <a:ext uri="{FF2B5EF4-FFF2-40B4-BE49-F238E27FC236}">
                <a16:creationId xmlns:a16="http://schemas.microsoft.com/office/drawing/2014/main" id="{B25167BF-DA9E-4B27-AE55-C08FAACBC0E7}"/>
              </a:ext>
            </a:extLst>
          </p:cNvPr>
          <p:cNvSpPr>
            <a:spLocks xmlns:a="http://schemas.openxmlformats.org/drawingml/2006/main" noGrp="1"/>
          </p:cNvSpPr>
          <p:nvPr/>
        </p:nvSpPr>
        <p:spPr>
          <a:xfrm xmlns:a="http://schemas.openxmlformats.org/drawingml/2006/main">
            <a:off x="590550" y="1809750"/>
            <a:ext cx="2333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NGN 90,000 is linked against a NGN 180,000 invoice. Review the installment terms.</a:t>
            </a:r>
          </a:p>
        </p:txBody>
      </p:sp>
      <p:pic>
        <p:nvPicPr>
          <p:cNvPr id="4" name="">
            <a:extLst xmlns:a="http://schemas.openxmlformats.org/drawingml/2006/main">
              <a:ext uri="{FF2B5EF4-FFF2-40B4-BE49-F238E27FC236}">
                <a16:creationId xmlns:a16="http://schemas.microsoft.com/office/drawing/2014/main" id="{6D298CFC-078A-4A41-9305-9A5F95422D2E}"/>
              </a:ext>
            </a:extLst>
          </p:cNvPr>
          <p:cNvPicPr>
            <a:picLocks xmlns:a="http://schemas.openxmlformats.org/drawingml/2006/main" noChangeAspect="1"/>
          </p:cNvPicPr>
          <p:nvPr/>
        </p:nvPicPr>
        <p:blipFill>
          <a:blip xmlns:r="http://schemas.openxmlformats.org/officeDocument/2006/relationships" xmlns:a="http://schemas.openxmlformats.org/drawingml/2006/main" r:embed="Ra5e9f32a8fe04f8d"/>
          <a:stretch xmlns:a="http://schemas.openxmlformats.org/drawingml/2006/main"/>
        </p:blipFill>
        <p:spPr>
          <a:xfrm xmlns:a="http://schemas.openxmlformats.org/drawingml/2006/main">
            <a:off x="3571875" y="1333500"/>
            <a:ext cx="7572375" cy="5048250"/>
          </a:xfrm>
          <a:prstGeom xmlns:a="http://schemas.openxmlformats.org/drawingml/2006/main" prst="rect">
            <a:avLst/>
          </a:prstGeom>
        </p:spPr>
      </p:pic>
    </p:spTree>
    <p:extLst>
      <p:ext uri="{BB962C8B-B14F-4D97-AF65-F5344CB8AC3E}">
        <p14:creationId xmlns:p14="http://schemas.microsoft.com/office/powerpoint/2010/main" val="1743577190"/>
      </p:ext>
    </p:extLst>
  </p:cSld>
</p:sld>
</file>

<file path=ppt/slides/slide8.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FA682D-9BE3-408E-84C4-7F6F1975C736}"/>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Kemi — Different payer</a:t>
            </a:r>
          </a:p>
        </p:txBody>
      </p:sp>
      <p:sp>
        <p:nvSpPr>
          <p:cNvPr id="2" name="">
            <a:extLst xmlns:a="http://schemas.openxmlformats.org/drawingml/2006/main">
              <a:ext uri="{FF2B5EF4-FFF2-40B4-BE49-F238E27FC236}">
                <a16:creationId xmlns:a16="http://schemas.microsoft.com/office/drawing/2014/main" id="{56AF5F7E-B137-4207-B27D-694EE31827AF}"/>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08</a:t>
            </a:r>
          </a:p>
        </p:txBody>
      </p:sp>
      <p:sp>
        <p:nvSpPr>
          <p:cNvPr id="3" name="">
            <a:extLst xmlns:a="http://schemas.openxmlformats.org/drawingml/2006/main">
              <a:ext uri="{FF2B5EF4-FFF2-40B4-BE49-F238E27FC236}">
                <a16:creationId xmlns:a16="http://schemas.microsoft.com/office/drawing/2014/main" id="{4BF62E2D-7E80-40B0-B5FC-E7081DB67351}"/>
              </a:ext>
            </a:extLst>
          </p:cNvPr>
          <p:cNvSpPr>
            <a:spLocks xmlns:a="http://schemas.openxmlformats.org/drawingml/2006/main" noGrp="1"/>
          </p:cNvSpPr>
          <p:nvPr/>
        </p:nvSpPr>
        <p:spPr>
          <a:xfrm xmlns:a="http://schemas.openxmlformats.org/drawingml/2006/main">
            <a:off x="590550" y="1809750"/>
            <a:ext cx="2333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The invoice names Kemi; the bank record names Third Party Holdings. Confirm their relationship.</a:t>
            </a:r>
          </a:p>
        </p:txBody>
      </p:sp>
      <p:pic>
        <p:nvPicPr>
          <p:cNvPr id="4" name="">
            <a:extLst xmlns:a="http://schemas.openxmlformats.org/drawingml/2006/main">
              <a:ext uri="{FF2B5EF4-FFF2-40B4-BE49-F238E27FC236}">
                <a16:creationId xmlns:a16="http://schemas.microsoft.com/office/drawing/2014/main" id="{57979B78-7C56-48A7-BCBB-326274B7F8D0}"/>
              </a:ext>
            </a:extLst>
          </p:cNvPr>
          <p:cNvPicPr>
            <a:picLocks xmlns:a="http://schemas.openxmlformats.org/drawingml/2006/main" noChangeAspect="1"/>
          </p:cNvPicPr>
          <p:nvPr/>
        </p:nvPicPr>
        <p:blipFill>
          <a:blip xmlns:r="http://schemas.openxmlformats.org/officeDocument/2006/relationships" xmlns:a="http://schemas.openxmlformats.org/drawingml/2006/main" r:embed="Rbdf1df2caa1f4619"/>
          <a:stretch xmlns:a="http://schemas.openxmlformats.org/drawingml/2006/main"/>
        </p:blipFill>
        <p:spPr>
          <a:xfrm xmlns:a="http://schemas.openxmlformats.org/drawingml/2006/main">
            <a:off x="3571875" y="1333500"/>
            <a:ext cx="7572375" cy="5048250"/>
          </a:xfrm>
          <a:prstGeom xmlns:a="http://schemas.openxmlformats.org/drawingml/2006/main" prst="rect">
            <a:avLst/>
          </a:prstGeom>
        </p:spPr>
      </p:pic>
    </p:spTree>
    <p:extLst>
      <p:ext uri="{BB962C8B-B14F-4D97-AF65-F5344CB8AC3E}">
        <p14:creationId xmlns:p14="http://schemas.microsoft.com/office/powerpoint/2010/main" val="1872242110"/>
      </p:ext>
    </p:extLst>
  </p:cSld>
</p:sld>
</file>

<file path=ppt/slides/slide9.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DF3E3B-4009-4E51-B96C-0E2969CFA309}"/>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Tobi — Credit and debit</a:t>
            </a:r>
          </a:p>
        </p:txBody>
      </p:sp>
      <p:sp>
        <p:nvSpPr>
          <p:cNvPr id="2" name="">
            <a:extLst xmlns:a="http://schemas.openxmlformats.org/drawingml/2006/main">
              <a:ext uri="{FF2B5EF4-FFF2-40B4-BE49-F238E27FC236}">
                <a16:creationId xmlns:a16="http://schemas.microsoft.com/office/drawing/2014/main" id="{C22716FB-EC31-45BD-AAD5-6F74772833B4}"/>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09</a:t>
            </a:r>
          </a:p>
        </p:txBody>
      </p:sp>
      <p:sp>
        <p:nvSpPr>
          <p:cNvPr id="3" name="">
            <a:extLst xmlns:a="http://schemas.openxmlformats.org/drawingml/2006/main">
              <a:ext uri="{FF2B5EF4-FFF2-40B4-BE49-F238E27FC236}">
                <a16:creationId xmlns:a16="http://schemas.microsoft.com/office/drawing/2014/main" id="{6A7FF716-4A93-457C-B7B8-8E5ACD2D1E94}"/>
              </a:ext>
            </a:extLst>
          </p:cNvPr>
          <p:cNvSpPr>
            <a:spLocks xmlns:a="http://schemas.openxmlformats.org/drawingml/2006/main" noGrp="1"/>
          </p:cNvSpPr>
          <p:nvPr/>
        </p:nvSpPr>
        <p:spPr>
          <a:xfrm xmlns:a="http://schemas.openxmlformats.org/drawingml/2006/main">
            <a:off x="590550" y="1809750"/>
            <a:ext cx="23336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A NGN 200,000 credit and NGN 200,000 debit leave net zero. Review their relationship.</a:t>
            </a:r>
          </a:p>
        </p:txBody>
      </p:sp>
      <p:pic>
        <p:nvPicPr>
          <p:cNvPr id="4" name="">
            <a:extLst xmlns:a="http://schemas.openxmlformats.org/drawingml/2006/main">
              <a:ext uri="{FF2B5EF4-FFF2-40B4-BE49-F238E27FC236}">
                <a16:creationId xmlns:a16="http://schemas.microsoft.com/office/drawing/2014/main" id="{5E6B5CE2-C143-4B6B-AB29-7C1F9C10FA06}"/>
              </a:ext>
            </a:extLst>
          </p:cNvPr>
          <p:cNvPicPr>
            <a:picLocks xmlns:a="http://schemas.openxmlformats.org/drawingml/2006/main" noChangeAspect="1"/>
          </p:cNvPicPr>
          <p:nvPr/>
        </p:nvPicPr>
        <p:blipFill>
          <a:blip xmlns:r="http://schemas.openxmlformats.org/officeDocument/2006/relationships" xmlns:a="http://schemas.openxmlformats.org/drawingml/2006/main" r:embed="R53dc2f1f86194a8c"/>
          <a:stretch xmlns:a="http://schemas.openxmlformats.org/drawingml/2006/main"/>
        </p:blipFill>
        <p:spPr>
          <a:xfrm xmlns:a="http://schemas.openxmlformats.org/drawingml/2006/main">
            <a:off x="3571875" y="1333500"/>
            <a:ext cx="7572375" cy="5048250"/>
          </a:xfrm>
          <a:prstGeom xmlns:a="http://schemas.openxmlformats.org/drawingml/2006/main" prst="rect">
            <a:avLst/>
          </a:prstGeom>
        </p:spPr>
      </p:pic>
    </p:spTree>
    <p:extLst>
      <p:ext uri="{BB962C8B-B14F-4D97-AF65-F5344CB8AC3E}">
        <p14:creationId xmlns:p14="http://schemas.microsoft.com/office/powerpoint/2010/main" val="1816548807"/>
      </p:ext>
    </p:extLst>
  </p:cSld>
</p:sld>
</file>

<file path=ppt/slides/slide10.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189351-B02F-46DA-8CB9-5E3B6455EC4B}"/>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The assessment explains its reasons</a:t>
            </a:r>
          </a:p>
        </p:txBody>
      </p:sp>
      <p:sp>
        <p:nvSpPr>
          <p:cNvPr id="2" name="">
            <a:extLst xmlns:a="http://schemas.openxmlformats.org/drawingml/2006/main">
              <a:ext uri="{FF2B5EF4-FFF2-40B4-BE49-F238E27FC236}">
                <a16:creationId xmlns:a16="http://schemas.microsoft.com/office/drawing/2014/main" id="{582C7DC4-FE50-4860-A548-959D0F1E096F}"/>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10</a:t>
            </a:r>
          </a:p>
        </p:txBody>
      </p:sp>
      <p:pic>
        <p:nvPicPr>
          <p:cNvPr id="3" name="">
            <a:extLst xmlns:a="http://schemas.openxmlformats.org/drawingml/2006/main">
              <a:ext uri="{FF2B5EF4-FFF2-40B4-BE49-F238E27FC236}">
                <a16:creationId xmlns:a16="http://schemas.microsoft.com/office/drawing/2014/main" id="{A00C8897-54C7-4591-A025-1E86A56FA370}"/>
              </a:ext>
            </a:extLst>
          </p:cNvPr>
          <p:cNvPicPr>
            <a:picLocks xmlns:a="http://schemas.openxmlformats.org/drawingml/2006/main" noChangeAspect="1"/>
          </p:cNvPicPr>
          <p:nvPr/>
        </p:nvPicPr>
        <p:blipFill>
          <a:blip xmlns:r="http://schemas.openxmlformats.org/officeDocument/2006/relationships" xmlns:a="http://schemas.openxmlformats.org/drawingml/2006/main" r:embed="R8ee553dc16764c7c"/>
          <a:stretch xmlns:a="http://schemas.openxmlformats.org/drawingml/2006/main"/>
        </p:blipFill>
        <p:spPr>
          <a:xfrm xmlns:a="http://schemas.openxmlformats.org/drawingml/2006/main">
            <a:off x="1016472" y="1428750"/>
            <a:ext cx="6539556"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FD57DE-8F04-4448-BBC6-B97D7E44E0B4}"/>
              </a:ext>
            </a:extLst>
          </p:cNvPr>
          <p:cNvSpPr>
            <a:spLocks xmlns:a="http://schemas.openxmlformats.org/drawingml/2006/main" noGrp="1"/>
          </p:cNvSpPr>
          <p:nvPr/>
        </p:nvSpPr>
        <p:spPr>
          <a:xfrm xmlns:a="http://schemas.openxmlformats.org/drawingml/2006/main">
            <a:off x="8382000" y="1619250"/>
            <a:ext cx="304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53C35"/>
                </a:solidFill>
                <a:latin typeface="Carlito"/>
                <a:ea typeface="Carlito"/>
                <a:cs typeface="Carlito"/>
              </a:defRPr>
            </a:defPPr>
          </a:lstStyle>
          <a:p xmlns:a="http://schemas.openxmlformats.org/drawingml/2006/main">
            <a:pPr>
              <a:defRPr sz="2475" b="1">
                <a:solidFill>
                  <a:srgbClr val="153C35"/>
                </a:solidFill>
                <a:latin typeface="Carlito"/>
                <a:ea typeface="Carlito"/>
                <a:cs typeface="Carlito"/>
              </a:defRPr>
            </a:pPr>
            <a:r>
              <a:rPr sz="2475" b="1">
                <a:solidFill>
                  <a:srgbClr val="153C35"/>
                </a:solidFill>
                <a:latin typeface="Carlito"/>
                <a:ea typeface="Carlito"/>
                <a:cs typeface="Carlito"/>
              </a:rPr>
              <a:t>Matches, differences</a:t>
            </a:r>
          </a:p>
          <a:p xmlns:a="http://schemas.openxmlformats.org/drawingml/2006/main">
            <a:pPr>
              <a:defRPr sz="2475" b="1">
                <a:solidFill>
                  <a:srgbClr val="153C35"/>
                </a:solidFill>
                <a:latin typeface="Carlito"/>
                <a:ea typeface="Carlito"/>
                <a:cs typeface="Carlito"/>
              </a:defRPr>
            </a:pPr>
            <a:r>
              <a:rPr sz="2475" b="1">
                <a:solidFill>
                  <a:srgbClr val="153C35"/>
                </a:solidFill>
                <a:latin typeface="Carlito"/>
                <a:ea typeface="Carlito"/>
                <a:cs typeface="Carlito"/>
              </a:rPr>
              <a:t>and missing evidence</a:t>
            </a:r>
          </a:p>
        </p:txBody>
      </p:sp>
      <p:sp>
        <p:nvSpPr>
          <p:cNvPr id="5" name="">
            <a:extLst xmlns:a="http://schemas.openxmlformats.org/drawingml/2006/main">
              <a:ext uri="{FF2B5EF4-FFF2-40B4-BE49-F238E27FC236}">
                <a16:creationId xmlns:a16="http://schemas.microsoft.com/office/drawing/2014/main" id="{469AF5BD-7A55-400E-900C-92CEB744E8C3}"/>
              </a:ext>
            </a:extLst>
          </p:cNvPr>
          <p:cNvSpPr>
            <a:spLocks xmlns:a="http://schemas.openxmlformats.org/drawingml/2006/main" noGrp="1"/>
          </p:cNvSpPr>
          <p:nvPr/>
        </p:nvSpPr>
        <p:spPr>
          <a:xfrm xmlns:a="http://schemas.openxmlformats.org/drawingml/2006/main">
            <a:off x="8382000" y="3524250"/>
            <a:ext cx="295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53C35"/>
                </a:solidFill>
                <a:latin typeface="Carlito"/>
                <a:ea typeface="Carlito"/>
                <a:cs typeface="Carlito"/>
              </a:defRPr>
            </a:defPPr>
          </a:lstStyle>
          <a:p xmlns:a="http://schemas.openxmlformats.org/drawingml/2006/main">
            <a:pPr>
              <a:defRPr sz="2175" b="0">
                <a:solidFill>
                  <a:srgbClr val="153C35"/>
                </a:solidFill>
                <a:latin typeface="Carlito"/>
                <a:ea typeface="Carlito"/>
                <a:cs typeface="Carlito"/>
              </a:defRPr>
            </a:pPr>
            <a:r>
              <a:rPr sz="2175" b="0">
                <a:solidFill>
                  <a:srgbClr val="153C35"/>
                </a:solidFill>
                <a:latin typeface="Carlito"/>
                <a:ea typeface="Carlito"/>
                <a:cs typeface="Carlito"/>
              </a:rPr>
              <a:t>Every result stays tied to supplied records. A person decides what the evidence means.</a:t>
            </a:r>
          </a:p>
        </p:txBody>
      </p:sp>
    </p:spTree>
    <p:extLst>
      <p:ext uri="{BB962C8B-B14F-4D97-AF65-F5344CB8AC3E}">
        <p14:creationId xmlns:p14="http://schemas.microsoft.com/office/powerpoint/2010/main" val="238428699"/>
      </p:ext>
    </p:extLst>
  </p:cSld>
</p:sld>
</file>

<file path=ppt/slides/slide11.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07C6AFA-EDD2-4C0C-A631-878513D72C01}"/>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Confirmation and review</a:t>
            </a:r>
          </a:p>
        </p:txBody>
      </p:sp>
      <p:sp>
        <p:nvSpPr>
          <p:cNvPr id="2" name="">
            <a:extLst xmlns:a="http://schemas.openxmlformats.org/drawingml/2006/main">
              <a:ext uri="{FF2B5EF4-FFF2-40B4-BE49-F238E27FC236}">
                <a16:creationId xmlns:a16="http://schemas.microsoft.com/office/drawing/2014/main" id="{D486772D-83D3-4590-BB01-7446C98834EE}"/>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11</a:t>
            </a:r>
          </a:p>
        </p:txBody>
      </p:sp>
      <p:sp>
        <p:nvSpPr>
          <p:cNvPr id="3" name="">
            <a:extLst xmlns:a="http://schemas.openxmlformats.org/drawingml/2006/main">
              <a:ext uri="{FF2B5EF4-FFF2-40B4-BE49-F238E27FC236}">
                <a16:creationId xmlns:a16="http://schemas.microsoft.com/office/drawing/2014/main" id="{F7BAD002-AC09-429C-ACF8-5A9B00B8C9FA}"/>
              </a:ext>
            </a:extLst>
          </p:cNvPr>
          <p:cNvSpPr>
            <a:spLocks xmlns:a="http://schemas.openxmlformats.org/drawingml/2006/main" noGrp="1"/>
          </p:cNvSpPr>
          <p:nvPr/>
        </p:nvSpPr>
        <p:spPr>
          <a:xfrm xmlns:a="http://schemas.openxmlformats.org/drawingml/2006/main">
            <a:off x="647700" y="1590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01</a:t>
            </a:r>
          </a:p>
        </p:txBody>
      </p:sp>
      <p:sp>
        <p:nvSpPr>
          <p:cNvPr id="4" name="">
            <a:extLst xmlns:a="http://schemas.openxmlformats.org/drawingml/2006/main">
              <a:ext uri="{FF2B5EF4-FFF2-40B4-BE49-F238E27FC236}">
                <a16:creationId xmlns:a16="http://schemas.microsoft.com/office/drawing/2014/main" id="{9CDA85EE-6C06-413B-B95F-30F90482999F}"/>
              </a:ext>
            </a:extLst>
          </p:cNvPr>
          <p:cNvSpPr>
            <a:spLocks xmlns:a="http://schemas.openxmlformats.org/drawingml/2006/main" noGrp="1"/>
          </p:cNvSpPr>
          <p:nvPr/>
        </p:nvSpPr>
        <p:spPr>
          <a:xfrm xmlns:a="http://schemas.openxmlformats.org/drawingml/2006/main">
            <a:off x="1476375" y="14954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Finish editing evidence, then create a client confirmation link.</a:t>
            </a:r>
          </a:p>
        </p:txBody>
      </p:sp>
      <p:sp>
        <p:nvSpPr>
          <p:cNvPr id="5" name="">
            <a:extLst xmlns:a="http://schemas.openxmlformats.org/drawingml/2006/main">
              <a:ext uri="{FF2B5EF4-FFF2-40B4-BE49-F238E27FC236}">
                <a16:creationId xmlns:a16="http://schemas.microsoft.com/office/drawing/2014/main" id="{3E6464D8-B53F-4503-A738-C0B96385DD84}"/>
              </a:ext>
            </a:extLst>
          </p:cNvPr>
          <p:cNvSpPr>
            <a:spLocks xmlns:a="http://schemas.openxmlformats.org/drawingml/2006/main" noGrp="1"/>
          </p:cNvSpPr>
          <p:nvPr/>
        </p:nvSpPr>
        <p:spPr>
          <a:xfrm xmlns:a="http://schemas.openxmlformats.org/drawingml/2006/main">
            <a:off x="647700" y="2657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02</a:t>
            </a:r>
          </a:p>
        </p:txBody>
      </p:sp>
      <p:sp>
        <p:nvSpPr>
          <p:cNvPr id="6" name="">
            <a:extLst xmlns:a="http://schemas.openxmlformats.org/drawingml/2006/main">
              <a:ext uri="{FF2B5EF4-FFF2-40B4-BE49-F238E27FC236}">
                <a16:creationId xmlns:a16="http://schemas.microsoft.com/office/drawing/2014/main" id="{A8D7E66A-5DCD-4370-A8A7-0DD65C921D38}"/>
              </a:ext>
            </a:extLst>
          </p:cNvPr>
          <p:cNvSpPr>
            <a:spLocks xmlns:a="http://schemas.openxmlformats.org/drawingml/2006/main" noGrp="1"/>
          </p:cNvSpPr>
          <p:nvPr/>
        </p:nvSpPr>
        <p:spPr>
          <a:xfrm xmlns:a="http://schemas.openxmlformats.org/drawingml/2006/main">
            <a:off x="1476375" y="25622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The link permits one response for that revision and expires after 14 days.</a:t>
            </a:r>
          </a:p>
        </p:txBody>
      </p:sp>
      <p:sp>
        <p:nvSpPr>
          <p:cNvPr id="7" name="">
            <a:extLst xmlns:a="http://schemas.openxmlformats.org/drawingml/2006/main">
              <a:ext uri="{FF2B5EF4-FFF2-40B4-BE49-F238E27FC236}">
                <a16:creationId xmlns:a16="http://schemas.microsoft.com/office/drawing/2014/main" id="{EF0AAC7C-5448-4706-B60D-84BF9AF82CFA}"/>
              </a:ext>
            </a:extLst>
          </p:cNvPr>
          <p:cNvSpPr>
            <a:spLocks xmlns:a="http://schemas.openxmlformats.org/drawingml/2006/main" noGrp="1"/>
          </p:cNvSpPr>
          <p:nvPr/>
        </p:nvSpPr>
        <p:spPr>
          <a:xfrm xmlns:a="http://schemas.openxmlformats.org/drawingml/2006/main">
            <a:off x="647700" y="3724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03</a:t>
            </a:r>
          </a:p>
        </p:txBody>
      </p:sp>
      <p:sp>
        <p:nvSpPr>
          <p:cNvPr id="8" name="">
            <a:extLst xmlns:a="http://schemas.openxmlformats.org/drawingml/2006/main">
              <a:ext uri="{FF2B5EF4-FFF2-40B4-BE49-F238E27FC236}">
                <a16:creationId xmlns:a16="http://schemas.microsoft.com/office/drawing/2014/main" id="{1922361A-4CB7-415B-A363-58C5C1BECD0E}"/>
              </a:ext>
            </a:extLst>
          </p:cNvPr>
          <p:cNvSpPr>
            <a:spLocks xmlns:a="http://schemas.openxmlformats.org/drawingml/2006/main" noGrp="1"/>
          </p:cNvSpPr>
          <p:nvPr/>
        </p:nvSpPr>
        <p:spPr>
          <a:xfrm xmlns:a="http://schemas.openxmlformats.org/drawingml/2006/main">
            <a:off x="1476375" y="36290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Run a fresh assessment before sharing with the reviewer workspace.</a:t>
            </a:r>
          </a:p>
        </p:txBody>
      </p:sp>
      <p:sp>
        <p:nvSpPr>
          <p:cNvPr id="9" name="">
            <a:extLst xmlns:a="http://schemas.openxmlformats.org/drawingml/2006/main">
              <a:ext uri="{FF2B5EF4-FFF2-40B4-BE49-F238E27FC236}">
                <a16:creationId xmlns:a16="http://schemas.microsoft.com/office/drawing/2014/main" id="{D5A69720-0FE1-475C-935C-71EF8ED016EF}"/>
              </a:ext>
            </a:extLst>
          </p:cNvPr>
          <p:cNvSpPr>
            <a:spLocks xmlns:a="http://schemas.openxmlformats.org/drawingml/2006/main" noGrp="1"/>
          </p:cNvSpPr>
          <p:nvPr/>
        </p:nvSpPr>
        <p:spPr>
          <a:xfrm xmlns:a="http://schemas.openxmlformats.org/drawingml/2006/main">
            <a:off x="647700" y="4791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04</a:t>
            </a:r>
          </a:p>
        </p:txBody>
      </p:sp>
      <p:sp>
        <p:nvSpPr>
          <p:cNvPr id="10" name="">
            <a:extLst xmlns:a="http://schemas.openxmlformats.org/drawingml/2006/main">
              <a:ext uri="{FF2B5EF4-FFF2-40B4-BE49-F238E27FC236}">
                <a16:creationId xmlns:a16="http://schemas.microsoft.com/office/drawing/2014/main" id="{409DEBF8-ECAA-4C3D-80A6-422C8EE8BBA9}"/>
              </a:ext>
            </a:extLst>
          </p:cNvPr>
          <p:cNvSpPr>
            <a:spLocks xmlns:a="http://schemas.openxmlformats.org/drawingml/2006/main" noGrp="1"/>
          </p:cNvSpPr>
          <p:nvPr/>
        </p:nvSpPr>
        <p:spPr>
          <a:xfrm xmlns:a="http://schemas.openxmlformats.org/drawingml/2006/main">
            <a:off x="1476375" y="46958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Any evidence edit withdraws sharing and invalidates the old assessment.</a:t>
            </a:r>
          </a:p>
        </p:txBody>
      </p:sp>
    </p:spTree>
    <p:extLst>
      <p:ext uri="{BB962C8B-B14F-4D97-AF65-F5344CB8AC3E}">
        <p14:creationId xmlns:p14="http://schemas.microsoft.com/office/powerpoint/2010/main" val="1612881667"/>
      </p:ext>
    </p:extLst>
  </p:cSld>
</p:sld>
</file>

<file path=ppt/slides/slide12.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C7930D-71C7-49E9-9722-9D3B8D856CA4}"/>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Implementation and provider boundaries</a:t>
            </a:r>
          </a:p>
        </p:txBody>
      </p:sp>
      <p:sp>
        <p:nvSpPr>
          <p:cNvPr id="2" name="">
            <a:extLst xmlns:a="http://schemas.openxmlformats.org/drawingml/2006/main">
              <a:ext uri="{FF2B5EF4-FFF2-40B4-BE49-F238E27FC236}">
                <a16:creationId xmlns:a16="http://schemas.microsoft.com/office/drawing/2014/main" id="{89DA6BF3-D8AD-4006-8375-F5645FD066D3}"/>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12</a:t>
            </a:r>
          </a:p>
        </p:txBody>
      </p:sp>
      <p:sp>
        <p:nvSpPr>
          <p:cNvPr id="3" name="">
            <a:extLst xmlns:a="http://schemas.openxmlformats.org/drawingml/2006/main">
              <a:ext uri="{FF2B5EF4-FFF2-40B4-BE49-F238E27FC236}">
                <a16:creationId xmlns:a16="http://schemas.microsoft.com/office/drawing/2014/main" id="{33AD268F-2293-4606-A1CE-AE0C4C8A549C}"/>
              </a:ext>
            </a:extLst>
          </p:cNvPr>
          <p:cNvSpPr>
            <a:spLocks xmlns:a="http://schemas.openxmlformats.org/drawingml/2006/main" noGrp="1"/>
          </p:cNvSpPr>
          <p:nvPr/>
        </p:nvSpPr>
        <p:spPr>
          <a:xfrm xmlns:a="http://schemas.openxmlformats.org/drawingml/2006/main">
            <a:off x="647700" y="1590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01</a:t>
            </a:r>
          </a:p>
        </p:txBody>
      </p:sp>
      <p:sp>
        <p:nvSpPr>
          <p:cNvPr id="4" name="">
            <a:extLst xmlns:a="http://schemas.openxmlformats.org/drawingml/2006/main">
              <a:ext uri="{FF2B5EF4-FFF2-40B4-BE49-F238E27FC236}">
                <a16:creationId xmlns:a16="http://schemas.microsoft.com/office/drawing/2014/main" id="{73932B7F-DB67-416E-8E61-C3E948C39BCD}"/>
              </a:ext>
            </a:extLst>
          </p:cNvPr>
          <p:cNvSpPr>
            <a:spLocks xmlns:a="http://schemas.openxmlformats.org/drawingml/2006/main" noGrp="1"/>
          </p:cNvSpPr>
          <p:nvPr/>
        </p:nvSpPr>
        <p:spPr>
          <a:xfrm xmlns:a="http://schemas.openxmlformats.org/drawingml/2006/main">
            <a:off x="1476375" y="14954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React UI → Fastify API → SQLite records and evidence files.</a:t>
            </a:r>
          </a:p>
        </p:txBody>
      </p:sp>
      <p:sp>
        <p:nvSpPr>
          <p:cNvPr id="5" name="">
            <a:extLst xmlns:a="http://schemas.openxmlformats.org/drawingml/2006/main">
              <a:ext uri="{FF2B5EF4-FFF2-40B4-BE49-F238E27FC236}">
                <a16:creationId xmlns:a16="http://schemas.microsoft.com/office/drawing/2014/main" id="{F97E3FE3-A6BB-4CDC-83BE-9C985F894F8D}"/>
              </a:ext>
            </a:extLst>
          </p:cNvPr>
          <p:cNvSpPr>
            <a:spLocks xmlns:a="http://schemas.openxmlformats.org/drawingml/2006/main" noGrp="1"/>
          </p:cNvSpPr>
          <p:nvPr/>
        </p:nvSpPr>
        <p:spPr>
          <a:xfrm xmlns:a="http://schemas.openxmlformats.org/drawingml/2006/main">
            <a:off x="647700" y="2657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02</a:t>
            </a:r>
          </a:p>
        </p:txBody>
      </p:sp>
      <p:sp>
        <p:nvSpPr>
          <p:cNvPr id="6" name="">
            <a:extLst xmlns:a="http://schemas.openxmlformats.org/drawingml/2006/main">
              <a:ext uri="{FF2B5EF4-FFF2-40B4-BE49-F238E27FC236}">
                <a16:creationId xmlns:a16="http://schemas.microsoft.com/office/drawing/2014/main" id="{C8C5EABB-1488-47DC-877D-2C4443B4C875}"/>
              </a:ext>
            </a:extLst>
          </p:cNvPr>
          <p:cNvSpPr>
            <a:spLocks xmlns:a="http://schemas.openxmlformats.org/drawingml/2006/main" noGrp="1"/>
          </p:cNvSpPr>
          <p:nvPr/>
        </p:nvSpPr>
        <p:spPr>
          <a:xfrm xmlns:a="http://schemas.openxmlformats.org/drawingml/2006/main">
            <a:off x="1476375" y="25622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Mono adapter: operator credentials and a consented account binding required.</a:t>
            </a:r>
          </a:p>
        </p:txBody>
      </p:sp>
      <p:sp>
        <p:nvSpPr>
          <p:cNvPr id="7" name="">
            <a:extLst xmlns:a="http://schemas.openxmlformats.org/drawingml/2006/main">
              <a:ext uri="{FF2B5EF4-FFF2-40B4-BE49-F238E27FC236}">
                <a16:creationId xmlns:a16="http://schemas.microsoft.com/office/drawing/2014/main" id="{B592BAF5-4387-4826-BB27-DBFBBC3D5941}"/>
              </a:ext>
            </a:extLst>
          </p:cNvPr>
          <p:cNvSpPr>
            <a:spLocks xmlns:a="http://schemas.openxmlformats.org/drawingml/2006/main" noGrp="1"/>
          </p:cNvSpPr>
          <p:nvPr/>
        </p:nvSpPr>
        <p:spPr>
          <a:xfrm xmlns:a="http://schemas.openxmlformats.org/drawingml/2006/main">
            <a:off x="647700" y="3724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03</a:t>
            </a:r>
          </a:p>
        </p:txBody>
      </p:sp>
      <p:sp>
        <p:nvSpPr>
          <p:cNvPr id="8" name="">
            <a:extLst xmlns:a="http://schemas.openxmlformats.org/drawingml/2006/main">
              <a:ext uri="{FF2B5EF4-FFF2-40B4-BE49-F238E27FC236}">
                <a16:creationId xmlns:a16="http://schemas.microsoft.com/office/drawing/2014/main" id="{B7920511-0CC6-41A6-B0C3-08AECA8B9C3E}"/>
              </a:ext>
            </a:extLst>
          </p:cNvPr>
          <p:cNvSpPr>
            <a:spLocks xmlns:a="http://schemas.openxmlformats.org/drawingml/2006/main" noGrp="1"/>
          </p:cNvSpPr>
          <p:nvPr/>
        </p:nvSpPr>
        <p:spPr>
          <a:xfrm xmlns:a="http://schemas.openxmlformats.org/drawingml/2006/main">
            <a:off x="1476375" y="36290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AI extraction: optional HTTP provider, source excerpts and manual review.</a:t>
            </a:r>
          </a:p>
        </p:txBody>
      </p:sp>
      <p:sp>
        <p:nvSpPr>
          <p:cNvPr id="9" name="">
            <a:extLst xmlns:a="http://schemas.openxmlformats.org/drawingml/2006/main">
              <a:ext uri="{FF2B5EF4-FFF2-40B4-BE49-F238E27FC236}">
                <a16:creationId xmlns:a16="http://schemas.microsoft.com/office/drawing/2014/main" id="{3ED24D5C-7DAD-4289-A65F-597D80A1E64A}"/>
              </a:ext>
            </a:extLst>
          </p:cNvPr>
          <p:cNvSpPr>
            <a:spLocks xmlns:a="http://schemas.openxmlformats.org/drawingml/2006/main" noGrp="1"/>
          </p:cNvSpPr>
          <p:nvPr/>
        </p:nvSpPr>
        <p:spPr>
          <a:xfrm xmlns:a="http://schemas.openxmlformats.org/drawingml/2006/main">
            <a:off x="647700" y="4791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04</a:t>
            </a:r>
          </a:p>
        </p:txBody>
      </p:sp>
      <p:sp>
        <p:nvSpPr>
          <p:cNvPr id="10" name="">
            <a:extLst xmlns:a="http://schemas.openxmlformats.org/drawingml/2006/main">
              <a:ext uri="{FF2B5EF4-FFF2-40B4-BE49-F238E27FC236}">
                <a16:creationId xmlns:a16="http://schemas.microsoft.com/office/drawing/2014/main" id="{C9F05741-1B4F-462C-B397-1B9EB8790474}"/>
              </a:ext>
            </a:extLst>
          </p:cNvPr>
          <p:cNvSpPr>
            <a:spLocks xmlns:a="http://schemas.openxmlformats.org/drawingml/2006/main" noGrp="1"/>
          </p:cNvSpPr>
          <p:nvPr/>
        </p:nvSpPr>
        <p:spPr>
          <a:xfrm xmlns:a="http://schemas.openxmlformats.org/drawingml/2006/main">
            <a:off x="1476375" y="46958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No built-in OCR, trained model or live app connections are claimed.</a:t>
            </a:r>
          </a:p>
        </p:txBody>
      </p:sp>
    </p:spTree>
    <p:extLst>
      <p:ext uri="{BB962C8B-B14F-4D97-AF65-F5344CB8AC3E}">
        <p14:creationId xmlns:p14="http://schemas.microsoft.com/office/powerpoint/2010/main" val="92754135"/>
      </p:ext>
    </p:extLst>
  </p:cSld>
</p:sld>
</file>

<file path=ppt/slides/slide13.xml><?xml version="1.0" encoding="utf-8"?>
<p:sld xmlns:p="http://schemas.openxmlformats.org/presentationml/2006/main">
  <p:cSld>
    <p:bg>
      <p:bgPr>
        <a:solidFill xmlns:a="http://schemas.openxmlformats.org/drawingml/2006/main">
          <a:srgbClr val="F8F6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15E934-D460-4FFC-9CB9-FB87ACDCEED8}"/>
              </a:ext>
            </a:extLst>
          </p:cNvPr>
          <p:cNvSpPr>
            <a:spLocks xmlns:a="http://schemas.openxmlformats.org/drawingml/2006/main" noGrp="1"/>
          </p:cNvSpPr>
          <p:nvPr/>
        </p:nvSpPr>
        <p:spPr>
          <a:xfrm xmlns:a="http://schemas.openxmlformats.org/drawingml/2006/main">
            <a:off x="609600" y="3810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53C35"/>
                </a:solidFill>
                <a:latin typeface="Carlito"/>
                <a:ea typeface="Carlito"/>
                <a:cs typeface="Carlito"/>
              </a:defRPr>
            </a:defPPr>
          </a:lstStyle>
          <a:p xmlns:a="http://schemas.openxmlformats.org/drawingml/2006/main">
            <a:pPr>
              <a:defRPr sz="3300" b="1">
                <a:solidFill>
                  <a:srgbClr val="153C35"/>
                </a:solidFill>
                <a:latin typeface="Carlito"/>
                <a:ea typeface="Carlito"/>
                <a:cs typeface="Carlito"/>
              </a:defRPr>
            </a:pPr>
            <a:r>
              <a:rPr sz="3300" b="1">
                <a:solidFill>
                  <a:srgbClr val="153C35"/>
                </a:solidFill>
                <a:latin typeface="Carlito"/>
                <a:ea typeface="Carlito"/>
                <a:cs typeface="Carlito"/>
              </a:rPr>
              <a:t>Pilot preparation</a:t>
            </a:r>
          </a:p>
        </p:txBody>
      </p:sp>
      <p:sp>
        <p:nvSpPr>
          <p:cNvPr id="2" name="">
            <a:extLst xmlns:a="http://schemas.openxmlformats.org/drawingml/2006/main">
              <a:ext uri="{FF2B5EF4-FFF2-40B4-BE49-F238E27FC236}">
                <a16:creationId xmlns:a16="http://schemas.microsoft.com/office/drawing/2014/main" id="{DD3EE0CD-5BE5-4F0E-B33D-0652A7A68587}"/>
              </a:ext>
            </a:extLst>
          </p:cNvPr>
          <p:cNvSpPr>
            <a:spLocks xmlns:a="http://schemas.openxmlformats.org/drawingml/2006/main" noGrp="1"/>
          </p:cNvSpPr>
          <p:nvPr/>
        </p:nvSpPr>
        <p:spPr>
          <a:xfrm xmlns:a="http://schemas.openxmlformats.org/drawingml/2006/main">
            <a:off x="11049000" y="63246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C65"/>
                </a:solidFill>
                <a:latin typeface="Carlito"/>
                <a:ea typeface="Carlito"/>
                <a:cs typeface="Carlito"/>
              </a:defRPr>
            </a:defPPr>
          </a:lstStyle>
          <a:p xmlns:a="http://schemas.openxmlformats.org/drawingml/2006/main">
            <a:pPr>
              <a:defRPr sz="1350" b="0">
                <a:solidFill>
                  <a:srgbClr val="526C65"/>
                </a:solidFill>
                <a:latin typeface="Carlito"/>
                <a:ea typeface="Carlito"/>
                <a:cs typeface="Carlito"/>
              </a:defRPr>
            </a:pPr>
            <a:r>
              <a:rPr sz="1350" b="0">
                <a:solidFill>
                  <a:srgbClr val="526C65"/>
                </a:solidFill>
                <a:latin typeface="Carlito"/>
                <a:ea typeface="Carlito"/>
                <a:cs typeface="Carlito"/>
              </a:rPr>
              <a:t>13</a:t>
            </a:r>
          </a:p>
        </p:txBody>
      </p:sp>
      <p:sp>
        <p:nvSpPr>
          <p:cNvPr id="3" name="">
            <a:extLst xmlns:a="http://schemas.openxmlformats.org/drawingml/2006/main">
              <a:ext uri="{FF2B5EF4-FFF2-40B4-BE49-F238E27FC236}">
                <a16:creationId xmlns:a16="http://schemas.microsoft.com/office/drawing/2014/main" id="{187DED16-FFDF-4CE7-BA5F-BD60FFDE0DE3}"/>
              </a:ext>
            </a:extLst>
          </p:cNvPr>
          <p:cNvSpPr>
            <a:spLocks xmlns:a="http://schemas.openxmlformats.org/drawingml/2006/main" noGrp="1"/>
          </p:cNvSpPr>
          <p:nvPr/>
        </p:nvSpPr>
        <p:spPr>
          <a:xfrm xmlns:a="http://schemas.openxmlformats.org/drawingml/2006/main">
            <a:off x="647700" y="15906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01</a:t>
            </a:r>
          </a:p>
        </p:txBody>
      </p:sp>
      <p:sp>
        <p:nvSpPr>
          <p:cNvPr id="4" name="">
            <a:extLst xmlns:a="http://schemas.openxmlformats.org/drawingml/2006/main">
              <a:ext uri="{FF2B5EF4-FFF2-40B4-BE49-F238E27FC236}">
                <a16:creationId xmlns:a16="http://schemas.microsoft.com/office/drawing/2014/main" id="{23307F73-D89B-45FA-B109-49D926FA3DAD}"/>
              </a:ext>
            </a:extLst>
          </p:cNvPr>
          <p:cNvSpPr>
            <a:spLocks xmlns:a="http://schemas.openxmlformats.org/drawingml/2006/main" noGrp="1"/>
          </p:cNvSpPr>
          <p:nvPr/>
        </p:nvSpPr>
        <p:spPr>
          <a:xfrm xmlns:a="http://schemas.openxmlformats.org/drawingml/2006/main">
            <a:off x="1476375" y="14954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Try the five examples, then a consented real job with its owner.</a:t>
            </a:r>
          </a:p>
        </p:txBody>
      </p:sp>
      <p:sp>
        <p:nvSpPr>
          <p:cNvPr id="5" name="">
            <a:extLst xmlns:a="http://schemas.openxmlformats.org/drawingml/2006/main">
              <a:ext uri="{FF2B5EF4-FFF2-40B4-BE49-F238E27FC236}">
                <a16:creationId xmlns:a16="http://schemas.microsoft.com/office/drawing/2014/main" id="{46535D7F-33DC-49CE-AB27-5B0F704E4C5E}"/>
              </a:ext>
            </a:extLst>
          </p:cNvPr>
          <p:cNvSpPr>
            <a:spLocks xmlns:a="http://schemas.openxmlformats.org/drawingml/2006/main" noGrp="1"/>
          </p:cNvSpPr>
          <p:nvPr/>
        </p:nvSpPr>
        <p:spPr>
          <a:xfrm xmlns:a="http://schemas.openxmlformats.org/drawingml/2006/main">
            <a:off x="647700" y="26574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02</a:t>
            </a:r>
          </a:p>
        </p:txBody>
      </p:sp>
      <p:sp>
        <p:nvSpPr>
          <p:cNvPr id="6" name="">
            <a:extLst xmlns:a="http://schemas.openxmlformats.org/drawingml/2006/main">
              <a:ext uri="{FF2B5EF4-FFF2-40B4-BE49-F238E27FC236}">
                <a16:creationId xmlns:a16="http://schemas.microsoft.com/office/drawing/2014/main" id="{A416571B-592B-4CCB-A1DC-0A156E804603}"/>
              </a:ext>
            </a:extLst>
          </p:cNvPr>
          <p:cNvSpPr>
            <a:spLocks xmlns:a="http://schemas.openxmlformats.org/drawingml/2006/main" noGrp="1"/>
          </p:cNvSpPr>
          <p:nvPr/>
        </p:nvSpPr>
        <p:spPr>
          <a:xfrm xmlns:a="http://schemas.openxmlformats.org/drawingml/2006/main">
            <a:off x="1476375" y="25622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Measure time to assemble a record and reviewer questions left unresolved.</a:t>
            </a:r>
          </a:p>
        </p:txBody>
      </p:sp>
      <p:sp>
        <p:nvSpPr>
          <p:cNvPr id="7" name="">
            <a:extLst xmlns:a="http://schemas.openxmlformats.org/drawingml/2006/main">
              <a:ext uri="{FF2B5EF4-FFF2-40B4-BE49-F238E27FC236}">
                <a16:creationId xmlns:a16="http://schemas.microsoft.com/office/drawing/2014/main" id="{75DE44BB-B966-4835-A790-91913563799E}"/>
              </a:ext>
            </a:extLst>
          </p:cNvPr>
          <p:cNvSpPr>
            <a:spLocks xmlns:a="http://schemas.openxmlformats.org/drawingml/2006/main" noGrp="1"/>
          </p:cNvSpPr>
          <p:nvPr/>
        </p:nvSpPr>
        <p:spPr>
          <a:xfrm xmlns:a="http://schemas.openxmlformats.org/drawingml/2006/main">
            <a:off x="647700" y="3724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03</a:t>
            </a:r>
          </a:p>
        </p:txBody>
      </p:sp>
      <p:sp>
        <p:nvSpPr>
          <p:cNvPr id="8" name="">
            <a:extLst xmlns:a="http://schemas.openxmlformats.org/drawingml/2006/main">
              <a:ext uri="{FF2B5EF4-FFF2-40B4-BE49-F238E27FC236}">
                <a16:creationId xmlns:a16="http://schemas.microsoft.com/office/drawing/2014/main" id="{49682377-B47A-4EDB-979E-D7C125616B29}"/>
              </a:ext>
            </a:extLst>
          </p:cNvPr>
          <p:cNvSpPr>
            <a:spLocks xmlns:a="http://schemas.openxmlformats.org/drawingml/2006/main" noGrp="1"/>
          </p:cNvSpPr>
          <p:nvPr/>
        </p:nvSpPr>
        <p:spPr>
          <a:xfrm xmlns:a="http://schemas.openxmlformats.org/drawingml/2006/main">
            <a:off x="1476375" y="36290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Add production identity, institution permissions, backups and file scanning.</a:t>
            </a:r>
          </a:p>
        </p:txBody>
      </p:sp>
      <p:sp>
        <p:nvSpPr>
          <p:cNvPr id="9" name="">
            <a:extLst xmlns:a="http://schemas.openxmlformats.org/drawingml/2006/main">
              <a:ext uri="{FF2B5EF4-FFF2-40B4-BE49-F238E27FC236}">
                <a16:creationId xmlns:a16="http://schemas.microsoft.com/office/drawing/2014/main" id="{F720B7B4-2E21-4FA0-9C4E-F2C8151D1E08}"/>
              </a:ext>
            </a:extLst>
          </p:cNvPr>
          <p:cNvSpPr>
            <a:spLocks xmlns:a="http://schemas.openxmlformats.org/drawingml/2006/main" noGrp="1"/>
          </p:cNvSpPr>
          <p:nvPr/>
        </p:nvSpPr>
        <p:spPr>
          <a:xfrm xmlns:a="http://schemas.openxmlformats.org/drawingml/2006/main">
            <a:off x="647700" y="4791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7882D"/>
                </a:solidFill>
                <a:latin typeface="Carlito"/>
                <a:ea typeface="Carlito"/>
                <a:cs typeface="Carlito"/>
              </a:defRPr>
            </a:defPPr>
          </a:lstStyle>
          <a:p xmlns:a="http://schemas.openxmlformats.org/drawingml/2006/main">
            <a:pPr>
              <a:defRPr sz="2250" b="1">
                <a:solidFill>
                  <a:srgbClr val="C7882D"/>
                </a:solidFill>
                <a:latin typeface="Carlito"/>
                <a:ea typeface="Carlito"/>
                <a:cs typeface="Carlito"/>
              </a:defRPr>
            </a:pPr>
            <a:r>
              <a:rPr sz="2250" b="1">
                <a:solidFill>
                  <a:srgbClr val="C7882D"/>
                </a:solidFill>
                <a:latin typeface="Carlito"/>
                <a:ea typeface="Carlito"/>
                <a:cs typeface="Carlito"/>
              </a:rPr>
              <a:t>04</a:t>
            </a:r>
          </a:p>
        </p:txBody>
      </p:sp>
      <p:sp>
        <p:nvSpPr>
          <p:cNvPr id="10" name="">
            <a:extLst xmlns:a="http://schemas.openxmlformats.org/drawingml/2006/main">
              <a:ext uri="{FF2B5EF4-FFF2-40B4-BE49-F238E27FC236}">
                <a16:creationId xmlns:a16="http://schemas.microsoft.com/office/drawing/2014/main" id="{E178294A-FEA1-46F5-B5D0-2349C113F851}"/>
              </a:ext>
            </a:extLst>
          </p:cNvPr>
          <p:cNvSpPr>
            <a:spLocks xmlns:a="http://schemas.openxmlformats.org/drawingml/2006/main" noGrp="1"/>
          </p:cNvSpPr>
          <p:nvPr/>
        </p:nvSpPr>
        <p:spPr>
          <a:xfrm xmlns:a="http://schemas.openxmlformats.org/drawingml/2006/main">
            <a:off x="1476375" y="4695825"/>
            <a:ext cx="990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53C35"/>
                </a:solidFill>
                <a:latin typeface="Carlito"/>
                <a:ea typeface="Carlito"/>
                <a:cs typeface="Carlito"/>
              </a:defRPr>
            </a:defPPr>
          </a:lstStyle>
          <a:p xmlns:a="http://schemas.openxmlformats.org/drawingml/2006/main">
            <a:pPr>
              <a:defRPr sz="2325" b="0">
                <a:solidFill>
                  <a:srgbClr val="153C35"/>
                </a:solidFill>
                <a:latin typeface="Carlito"/>
                <a:ea typeface="Carlito"/>
                <a:cs typeface="Carlito"/>
              </a:defRPr>
            </a:pPr>
            <a:r>
              <a:rPr sz="2325" b="0">
                <a:solidFill>
                  <a:srgbClr val="153C35"/>
                </a:solidFill>
                <a:latin typeface="Carlito"/>
                <a:ea typeface="Carlito"/>
                <a:cs typeface="Carlito"/>
              </a:rPr>
              <a:t>Keep credit decisions, fraud labels and fabricated evidence outside the product.</a:t>
            </a:r>
          </a:p>
        </p:txBody>
      </p:sp>
    </p:spTree>
    <p:extLst>
      <p:ext uri="{BB962C8B-B14F-4D97-AF65-F5344CB8AC3E}">
        <p14:creationId xmlns:p14="http://schemas.microsoft.com/office/powerpoint/2010/main" val="1881379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2026-10-09T01:51:51.9570000Z</dcterms:created>
  <dcterms:modified xsi:type="dcterms:W3CDTF">2026-10-09T01:51:51.9570000Z</dcterms:modified>
</coreProperties>
</file>